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1"/>
  </p:notesMasterIdLst>
  <p:sldIdLst>
    <p:sldId id="256" r:id="rId2"/>
    <p:sldId id="282" r:id="rId3"/>
    <p:sldId id="283" r:id="rId4"/>
    <p:sldId id="284" r:id="rId5"/>
    <p:sldId id="285" r:id="rId6"/>
    <p:sldId id="288" r:id="rId7"/>
    <p:sldId id="286" r:id="rId8"/>
    <p:sldId id="289" r:id="rId9"/>
    <p:sldId id="261" r:id="rId1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78" userDrawn="1">
          <p15:clr>
            <a:srgbClr val="A4A3A4"/>
          </p15:clr>
        </p15:guide>
        <p15:guide id="3" pos="234" userDrawn="1">
          <p15:clr>
            <a:srgbClr val="A4A3A4"/>
          </p15:clr>
        </p15:guide>
        <p15:guide id="4" pos="7446" userDrawn="1">
          <p15:clr>
            <a:srgbClr val="A4A3A4"/>
          </p15:clr>
        </p15:guide>
        <p15:guide id="5" orient="horz" pos="4065" userDrawn="1">
          <p15:clr>
            <a:srgbClr val="A4A3A4"/>
          </p15:clr>
        </p15:guide>
        <p15:guide id="7" orient="horz" pos="40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B6B6B"/>
    <a:srgbClr val="7FCCCF"/>
    <a:srgbClr val="F7CD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869F187-61CD-4966-A7C6-F9B4AB64D9A6}" v="94" dt="2025-01-24T09:11:42.80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990" y="90"/>
      </p:cViewPr>
      <p:guideLst>
        <p:guide orient="horz" pos="278"/>
        <p:guide pos="234"/>
        <p:guide pos="7446"/>
        <p:guide orient="horz" pos="4065"/>
        <p:guide orient="horz" pos="40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120000" cy="120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92A989-C1BD-4D41-BDA0-553FF56CB6C6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35E315-805F-436C-886B-B7E726E0B1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57248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2120900" y="-573872"/>
            <a:ext cx="8521600" cy="8521600"/>
          </a:xfrm>
          <a:prstGeom prst="chord">
            <a:avLst>
              <a:gd name="adj1" fmla="val 14385217"/>
              <a:gd name="adj2" fmla="val 720831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60967" tIns="30467" rIns="60967" bIns="30467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2"/>
          <p:cNvSpPr/>
          <p:nvPr/>
        </p:nvSpPr>
        <p:spPr>
          <a:xfrm>
            <a:off x="599387" y="1045565"/>
            <a:ext cx="719528" cy="179881"/>
          </a:xfrm>
          <a:custGeom>
            <a:avLst/>
            <a:gdLst/>
            <a:ahLst/>
            <a:cxnLst/>
            <a:rect l="l" t="t" r="r" b="b"/>
            <a:pathLst>
              <a:path w="1079292" h="269823" extrusionOk="0">
                <a:moveTo>
                  <a:pt x="134912" y="0"/>
                </a:moveTo>
                <a:cubicBezTo>
                  <a:pt x="60373" y="0"/>
                  <a:pt x="0" y="60373"/>
                  <a:pt x="0" y="134912"/>
                </a:cubicBezTo>
                <a:cubicBezTo>
                  <a:pt x="0" y="209450"/>
                  <a:pt x="60373" y="269823"/>
                  <a:pt x="134912" y="269823"/>
                </a:cubicBezTo>
                <a:cubicBezTo>
                  <a:pt x="209450" y="269823"/>
                  <a:pt x="269823" y="209450"/>
                  <a:pt x="269823" y="134912"/>
                </a:cubicBezTo>
                <a:cubicBezTo>
                  <a:pt x="269823" y="60373"/>
                  <a:pt x="209450" y="0"/>
                  <a:pt x="134912" y="0"/>
                </a:cubicBezTo>
                <a:close/>
                <a:moveTo>
                  <a:pt x="944381" y="0"/>
                </a:moveTo>
                <a:cubicBezTo>
                  <a:pt x="869842" y="0"/>
                  <a:pt x="809469" y="60373"/>
                  <a:pt x="809469" y="134912"/>
                </a:cubicBezTo>
                <a:cubicBezTo>
                  <a:pt x="809469" y="209450"/>
                  <a:pt x="869842" y="269823"/>
                  <a:pt x="944381" y="269823"/>
                </a:cubicBezTo>
                <a:cubicBezTo>
                  <a:pt x="1018919" y="269823"/>
                  <a:pt x="1079292" y="209450"/>
                  <a:pt x="1079292" y="134912"/>
                </a:cubicBezTo>
                <a:cubicBezTo>
                  <a:pt x="1079292" y="60373"/>
                  <a:pt x="1018919" y="0"/>
                  <a:pt x="944381" y="0"/>
                </a:cubicBezTo>
                <a:close/>
                <a:moveTo>
                  <a:pt x="539646" y="0"/>
                </a:moveTo>
                <a:cubicBezTo>
                  <a:pt x="465107" y="0"/>
                  <a:pt x="404735" y="60373"/>
                  <a:pt x="404735" y="134912"/>
                </a:cubicBezTo>
                <a:cubicBezTo>
                  <a:pt x="404735" y="209450"/>
                  <a:pt x="465107" y="269823"/>
                  <a:pt x="539646" y="269823"/>
                </a:cubicBezTo>
                <a:cubicBezTo>
                  <a:pt x="614185" y="269823"/>
                  <a:pt x="674558" y="209450"/>
                  <a:pt x="674558" y="134912"/>
                </a:cubicBezTo>
                <a:cubicBezTo>
                  <a:pt x="674558" y="60373"/>
                  <a:pt x="614185" y="0"/>
                  <a:pt x="53964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60967" tIns="30467" rIns="60967" bIns="30467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685800" y="2451100"/>
            <a:ext cx="4663200" cy="2462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419500" y="6384400"/>
            <a:ext cx="731600" cy="24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buNone/>
              <a:defRPr/>
            </a:lvl1pPr>
            <a:lvl2pPr lvl="1" algn="l">
              <a:buNone/>
              <a:defRPr/>
            </a:lvl2pPr>
            <a:lvl3pPr lvl="2" algn="l">
              <a:buNone/>
              <a:defRPr/>
            </a:lvl3pPr>
            <a:lvl4pPr lvl="3" algn="l">
              <a:buNone/>
              <a:defRPr/>
            </a:lvl4pPr>
            <a:lvl5pPr lvl="4" algn="l">
              <a:buNone/>
              <a:defRPr/>
            </a:lvl5pPr>
            <a:lvl6pPr lvl="5" algn="l">
              <a:buNone/>
              <a:defRPr/>
            </a:lvl6pPr>
            <a:lvl7pPr lvl="6" algn="l">
              <a:buNone/>
              <a:defRPr/>
            </a:lvl7pPr>
            <a:lvl8pPr lvl="7" algn="l">
              <a:buNone/>
              <a:defRPr/>
            </a:lvl8pPr>
            <a:lvl9pPr lvl="8" algn="l">
              <a:buNone/>
              <a:defRPr/>
            </a:lvl9pPr>
          </a:lstStyle>
          <a:p>
            <a:fld id="{DA8DD845-F27E-4398-B41C-45BECC5BCC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92554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bg>
      <p:bgPr>
        <a:solidFill>
          <a:schemeClr val="accent1"/>
        </a:solidFill>
        <a:effectLst/>
      </p:bgPr>
    </p:bg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687367" y="3014367"/>
            <a:ext cx="6379200" cy="3129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609585" lvl="0" indent="-651917" rtl="0">
              <a:spcBef>
                <a:spcPts val="0"/>
              </a:spcBef>
              <a:spcAft>
                <a:spcPts val="0"/>
              </a:spcAft>
              <a:buSzPts val="4100"/>
              <a:buChar char="•"/>
              <a:defRPr sz="5467" b="1"/>
            </a:lvl1pPr>
            <a:lvl2pPr marL="1219170" lvl="1" indent="-651917" rtl="0">
              <a:spcBef>
                <a:spcPts val="1067"/>
              </a:spcBef>
              <a:spcAft>
                <a:spcPts val="0"/>
              </a:spcAft>
              <a:buSzPts val="4100"/>
              <a:buChar char="○"/>
              <a:defRPr sz="5467" b="1"/>
            </a:lvl2pPr>
            <a:lvl3pPr marL="1828754" lvl="2" indent="-651917" rtl="0">
              <a:spcBef>
                <a:spcPts val="1067"/>
              </a:spcBef>
              <a:spcAft>
                <a:spcPts val="0"/>
              </a:spcAft>
              <a:buSzPts val="4100"/>
              <a:buChar char="■"/>
              <a:defRPr sz="5467" b="1"/>
            </a:lvl3pPr>
            <a:lvl4pPr marL="2438339" lvl="3" indent="-651917" rtl="0">
              <a:spcBef>
                <a:spcPts val="1067"/>
              </a:spcBef>
              <a:spcAft>
                <a:spcPts val="0"/>
              </a:spcAft>
              <a:buSzPts val="4100"/>
              <a:buChar char="●"/>
              <a:defRPr sz="5467" b="1"/>
            </a:lvl4pPr>
            <a:lvl5pPr marL="3047924" lvl="4" indent="-651917" rtl="0">
              <a:spcBef>
                <a:spcPts val="1067"/>
              </a:spcBef>
              <a:spcAft>
                <a:spcPts val="0"/>
              </a:spcAft>
              <a:buSzPts val="4100"/>
              <a:buChar char="○"/>
              <a:defRPr sz="5467" b="1"/>
            </a:lvl5pPr>
            <a:lvl6pPr marL="3657509" lvl="5" indent="-651917" rtl="0">
              <a:spcBef>
                <a:spcPts val="1067"/>
              </a:spcBef>
              <a:spcAft>
                <a:spcPts val="0"/>
              </a:spcAft>
              <a:buSzPts val="4100"/>
              <a:buChar char="■"/>
              <a:defRPr sz="5467" b="1"/>
            </a:lvl6pPr>
            <a:lvl7pPr marL="4267093" lvl="6" indent="-651917" rtl="0">
              <a:spcBef>
                <a:spcPts val="1067"/>
              </a:spcBef>
              <a:spcAft>
                <a:spcPts val="0"/>
              </a:spcAft>
              <a:buSzPts val="4100"/>
              <a:buChar char="●"/>
              <a:defRPr sz="5467" b="1"/>
            </a:lvl7pPr>
            <a:lvl8pPr marL="4876678" lvl="7" indent="-651917" rtl="0">
              <a:spcBef>
                <a:spcPts val="1067"/>
              </a:spcBef>
              <a:spcAft>
                <a:spcPts val="0"/>
              </a:spcAft>
              <a:buSzPts val="4100"/>
              <a:buChar char="○"/>
              <a:defRPr sz="5467" b="1"/>
            </a:lvl8pPr>
            <a:lvl9pPr marL="5486263" lvl="8" indent="-651917" rtl="0">
              <a:spcBef>
                <a:spcPts val="1067"/>
              </a:spcBef>
              <a:spcAft>
                <a:spcPts val="1067"/>
              </a:spcAft>
              <a:buSzPts val="4100"/>
              <a:buChar char="■"/>
              <a:defRPr sz="54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11168100" y="6333133"/>
            <a:ext cx="731600" cy="242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DA8DD845-F27E-4398-B41C-45BECC5BCCA6}" type="slidenum">
              <a:rPr lang="en-IN" smtClean="0"/>
              <a:t>‹#›</a:t>
            </a:fld>
            <a:endParaRPr lang="en-IN"/>
          </a:p>
        </p:txBody>
      </p:sp>
      <p:sp>
        <p:nvSpPr>
          <p:cNvPr id="23" name="Google Shape;23;p4"/>
          <p:cNvSpPr/>
          <p:nvPr/>
        </p:nvSpPr>
        <p:spPr>
          <a:xfrm>
            <a:off x="687376" y="805859"/>
            <a:ext cx="716456" cy="719667"/>
          </a:xfrm>
          <a:custGeom>
            <a:avLst/>
            <a:gdLst/>
            <a:ahLst/>
            <a:cxnLst/>
            <a:rect l="l" t="t" r="r" b="b"/>
            <a:pathLst>
              <a:path w="6321665" h="6350000" extrusionOk="0">
                <a:moveTo>
                  <a:pt x="3160833" y="0"/>
                </a:moveTo>
                <a:lnTo>
                  <a:pt x="3160833" y="0"/>
                </a:lnTo>
                <a:cubicBezTo>
                  <a:pt x="4908795" y="7817"/>
                  <a:pt x="6321666" y="1427021"/>
                  <a:pt x="6321666" y="3175000"/>
                </a:cubicBezTo>
                <a:cubicBezTo>
                  <a:pt x="6321666" y="4922979"/>
                  <a:pt x="4908795" y="6342183"/>
                  <a:pt x="3160833" y="6350000"/>
                </a:cubicBezTo>
                <a:cubicBezTo>
                  <a:pt x="1412871" y="6342183"/>
                  <a:pt x="0" y="4922979"/>
                  <a:pt x="0" y="3175000"/>
                </a:cubicBezTo>
                <a:cubicBezTo>
                  <a:pt x="0" y="1427021"/>
                  <a:pt x="1412871" y="7817"/>
                  <a:pt x="3160833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60967" tIns="60967" rIns="60967" bIns="60967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24" name="Google Shape;24;p4"/>
          <p:cNvSpPr/>
          <p:nvPr/>
        </p:nvSpPr>
        <p:spPr>
          <a:xfrm>
            <a:off x="8732410" y="1158924"/>
            <a:ext cx="2414185" cy="2414185"/>
          </a:xfrm>
          <a:custGeom>
            <a:avLst/>
            <a:gdLst/>
            <a:ahLst/>
            <a:cxnLst/>
            <a:rect l="l" t="t" r="r" b="b"/>
            <a:pathLst>
              <a:path w="1708150" h="1708150" extrusionOk="0">
                <a:moveTo>
                  <a:pt x="853440" y="1708150"/>
                </a:moveTo>
                <a:cubicBezTo>
                  <a:pt x="383540" y="1708150"/>
                  <a:pt x="0" y="1324610"/>
                  <a:pt x="0" y="853440"/>
                </a:cubicBezTo>
                <a:cubicBezTo>
                  <a:pt x="0" y="383540"/>
                  <a:pt x="383540" y="0"/>
                  <a:pt x="853440" y="0"/>
                </a:cubicBezTo>
                <a:cubicBezTo>
                  <a:pt x="1324610" y="0"/>
                  <a:pt x="1706880" y="383540"/>
                  <a:pt x="1706880" y="853440"/>
                </a:cubicBezTo>
                <a:cubicBezTo>
                  <a:pt x="1708150" y="1324610"/>
                  <a:pt x="1324610" y="1708150"/>
                  <a:pt x="853440" y="1708150"/>
                </a:cubicBezTo>
                <a:close/>
                <a:moveTo>
                  <a:pt x="853440" y="469900"/>
                </a:moveTo>
                <a:cubicBezTo>
                  <a:pt x="642620" y="469900"/>
                  <a:pt x="469900" y="642620"/>
                  <a:pt x="469900" y="853440"/>
                </a:cubicBezTo>
                <a:cubicBezTo>
                  <a:pt x="469900" y="1064260"/>
                  <a:pt x="642620" y="1236980"/>
                  <a:pt x="853440" y="1236980"/>
                </a:cubicBezTo>
                <a:cubicBezTo>
                  <a:pt x="1064260" y="1236980"/>
                  <a:pt x="1236980" y="1064260"/>
                  <a:pt x="1236980" y="853440"/>
                </a:cubicBezTo>
                <a:cubicBezTo>
                  <a:pt x="1236980" y="642620"/>
                  <a:pt x="1065530" y="469900"/>
                  <a:pt x="853440" y="46990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60967" tIns="60967" rIns="60967" bIns="60967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25" name="Google Shape;25;p4"/>
          <p:cNvSpPr/>
          <p:nvPr/>
        </p:nvSpPr>
        <p:spPr>
          <a:xfrm>
            <a:off x="7756775" y="2941185"/>
            <a:ext cx="1956228" cy="978940"/>
          </a:xfrm>
          <a:custGeom>
            <a:avLst/>
            <a:gdLst/>
            <a:ahLst/>
            <a:cxnLst/>
            <a:rect l="l" t="t" r="r" b="b"/>
            <a:pathLst>
              <a:path w="2934342" h="1468410" extrusionOk="0">
                <a:moveTo>
                  <a:pt x="2934342" y="0"/>
                </a:moveTo>
                <a:cubicBezTo>
                  <a:pt x="2934342" y="811099"/>
                  <a:pt x="2277030" y="1468411"/>
                  <a:pt x="1465931" y="1468411"/>
                </a:cubicBezTo>
                <a:cubicBezTo>
                  <a:pt x="654832" y="1468411"/>
                  <a:pt x="0" y="811099"/>
                  <a:pt x="0" y="0"/>
                </a:cubicBezTo>
                <a:lnTo>
                  <a:pt x="2934342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60967" tIns="30467" rIns="60967" bIns="30467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929684" y="1074718"/>
            <a:ext cx="231833" cy="181964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sz="1867" b="1" i="0">
                <a:ln>
                  <a:noFill/>
                </a:ln>
                <a:solidFill>
                  <a:schemeClr val="lt2"/>
                </a:solidFill>
                <a:latin typeface="Georgia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05771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 + 2 column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>
            <a:spLocks noGrp="1"/>
          </p:cNvSpPr>
          <p:nvPr>
            <p:ph type="title"/>
          </p:nvPr>
        </p:nvSpPr>
        <p:spPr>
          <a:xfrm>
            <a:off x="688800" y="685800"/>
            <a:ext cx="8640000" cy="95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body" idx="1"/>
          </p:nvPr>
        </p:nvSpPr>
        <p:spPr>
          <a:xfrm>
            <a:off x="688800" y="2623300"/>
            <a:ext cx="4216800" cy="332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40256" rtl="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1pPr>
            <a:lvl2pPr marL="1219170" lvl="1" indent="-440256" rtl="0">
              <a:spcBef>
                <a:spcPts val="1067"/>
              </a:spcBef>
              <a:spcAft>
                <a:spcPts val="0"/>
              </a:spcAft>
              <a:buSzPts val="1600"/>
              <a:buChar char="○"/>
              <a:defRPr/>
            </a:lvl2pPr>
            <a:lvl3pPr marL="1828754" lvl="2" indent="-440256" rtl="0">
              <a:spcBef>
                <a:spcPts val="1067"/>
              </a:spcBef>
              <a:spcAft>
                <a:spcPts val="0"/>
              </a:spcAft>
              <a:buSzPts val="1600"/>
              <a:buChar char="■"/>
              <a:defRPr/>
            </a:lvl3pPr>
            <a:lvl4pPr marL="2438339" lvl="3" indent="-440256" rtl="0">
              <a:spcBef>
                <a:spcPts val="1067"/>
              </a:spcBef>
              <a:spcAft>
                <a:spcPts val="0"/>
              </a:spcAft>
              <a:buSzPts val="1600"/>
              <a:buChar char="●"/>
              <a:defRPr/>
            </a:lvl4pPr>
            <a:lvl5pPr marL="3047924" lvl="4" indent="-440256" rtl="0">
              <a:spcBef>
                <a:spcPts val="1067"/>
              </a:spcBef>
              <a:spcAft>
                <a:spcPts val="0"/>
              </a:spcAft>
              <a:buSzPts val="1600"/>
              <a:buChar char="○"/>
              <a:defRPr/>
            </a:lvl5pPr>
            <a:lvl6pPr marL="3657509" lvl="5" indent="-440256" rtl="0">
              <a:spcBef>
                <a:spcPts val="1067"/>
              </a:spcBef>
              <a:spcAft>
                <a:spcPts val="0"/>
              </a:spcAft>
              <a:buSzPts val="1600"/>
              <a:buChar char="■"/>
              <a:defRPr/>
            </a:lvl6pPr>
            <a:lvl7pPr marL="4267093" lvl="6" indent="-440256" rtl="0">
              <a:spcBef>
                <a:spcPts val="1067"/>
              </a:spcBef>
              <a:spcAft>
                <a:spcPts val="0"/>
              </a:spcAft>
              <a:buSzPts val="1600"/>
              <a:buChar char="●"/>
              <a:defRPr/>
            </a:lvl7pPr>
            <a:lvl8pPr marL="4876678" lvl="7" indent="-440256" rtl="0">
              <a:spcBef>
                <a:spcPts val="1067"/>
              </a:spcBef>
              <a:spcAft>
                <a:spcPts val="0"/>
              </a:spcAft>
              <a:buSzPts val="1600"/>
              <a:buChar char="○"/>
              <a:defRPr/>
            </a:lvl8pPr>
            <a:lvl9pPr marL="5486263" lvl="8" indent="-440256" rtl="0">
              <a:spcBef>
                <a:spcPts val="1067"/>
              </a:spcBef>
              <a:spcAft>
                <a:spcPts val="1067"/>
              </a:spcAft>
              <a:buSzPts val="16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Google Shape;34;p6"/>
          <p:cNvSpPr txBox="1">
            <a:spLocks noGrp="1"/>
          </p:cNvSpPr>
          <p:nvPr>
            <p:ph type="body" idx="2"/>
          </p:nvPr>
        </p:nvSpPr>
        <p:spPr>
          <a:xfrm>
            <a:off x="5497168" y="2623300"/>
            <a:ext cx="4216800" cy="332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40256" rtl="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1pPr>
            <a:lvl2pPr marL="1219170" lvl="1" indent="-440256" rtl="0">
              <a:spcBef>
                <a:spcPts val="1067"/>
              </a:spcBef>
              <a:spcAft>
                <a:spcPts val="0"/>
              </a:spcAft>
              <a:buSzPts val="1600"/>
              <a:buChar char="○"/>
              <a:defRPr/>
            </a:lvl2pPr>
            <a:lvl3pPr marL="1828754" lvl="2" indent="-440256" rtl="0">
              <a:spcBef>
                <a:spcPts val="1067"/>
              </a:spcBef>
              <a:spcAft>
                <a:spcPts val="0"/>
              </a:spcAft>
              <a:buSzPts val="1600"/>
              <a:buChar char="■"/>
              <a:defRPr/>
            </a:lvl3pPr>
            <a:lvl4pPr marL="2438339" lvl="3" indent="-440256" rtl="0">
              <a:spcBef>
                <a:spcPts val="1067"/>
              </a:spcBef>
              <a:spcAft>
                <a:spcPts val="0"/>
              </a:spcAft>
              <a:buSzPts val="1600"/>
              <a:buChar char="●"/>
              <a:defRPr/>
            </a:lvl4pPr>
            <a:lvl5pPr marL="3047924" lvl="4" indent="-440256" rtl="0">
              <a:spcBef>
                <a:spcPts val="1067"/>
              </a:spcBef>
              <a:spcAft>
                <a:spcPts val="0"/>
              </a:spcAft>
              <a:buSzPts val="1600"/>
              <a:buChar char="○"/>
              <a:defRPr/>
            </a:lvl5pPr>
            <a:lvl6pPr marL="3657509" lvl="5" indent="-440256" rtl="0">
              <a:spcBef>
                <a:spcPts val="1067"/>
              </a:spcBef>
              <a:spcAft>
                <a:spcPts val="0"/>
              </a:spcAft>
              <a:buSzPts val="1600"/>
              <a:buChar char="■"/>
              <a:defRPr/>
            </a:lvl6pPr>
            <a:lvl7pPr marL="4267093" lvl="6" indent="-440256" rtl="0">
              <a:spcBef>
                <a:spcPts val="1067"/>
              </a:spcBef>
              <a:spcAft>
                <a:spcPts val="0"/>
              </a:spcAft>
              <a:buSzPts val="1600"/>
              <a:buChar char="●"/>
              <a:defRPr/>
            </a:lvl7pPr>
            <a:lvl8pPr marL="4876678" lvl="7" indent="-440256" rtl="0">
              <a:spcBef>
                <a:spcPts val="1067"/>
              </a:spcBef>
              <a:spcAft>
                <a:spcPts val="0"/>
              </a:spcAft>
              <a:buSzPts val="1600"/>
              <a:buChar char="○"/>
              <a:defRPr/>
            </a:lvl8pPr>
            <a:lvl9pPr marL="5486263" lvl="8" indent="-440256" rtl="0">
              <a:spcBef>
                <a:spcPts val="1067"/>
              </a:spcBef>
              <a:spcAft>
                <a:spcPts val="1067"/>
              </a:spcAft>
              <a:buSzPts val="16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11168100" y="6333133"/>
            <a:ext cx="731600" cy="242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DA8DD845-F27E-4398-B41C-45BECC5BCC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84345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3 columns">
  <p:cSld name="Title + 3 columns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>
            <a:spLocks noGrp="1"/>
          </p:cNvSpPr>
          <p:nvPr>
            <p:ph type="title"/>
          </p:nvPr>
        </p:nvSpPr>
        <p:spPr>
          <a:xfrm>
            <a:off x="688800" y="685800"/>
            <a:ext cx="8640000" cy="95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body" idx="1"/>
          </p:nvPr>
        </p:nvSpPr>
        <p:spPr>
          <a:xfrm>
            <a:off x="688800" y="2623300"/>
            <a:ext cx="2811600" cy="3404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40256" rtl="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1pPr>
            <a:lvl2pPr marL="1219170" lvl="1" indent="-440256" rtl="0">
              <a:spcBef>
                <a:spcPts val="1067"/>
              </a:spcBef>
              <a:spcAft>
                <a:spcPts val="0"/>
              </a:spcAft>
              <a:buSzPts val="1600"/>
              <a:buChar char="○"/>
              <a:defRPr/>
            </a:lvl2pPr>
            <a:lvl3pPr marL="1828754" lvl="2" indent="-440256" rtl="0">
              <a:spcBef>
                <a:spcPts val="1067"/>
              </a:spcBef>
              <a:spcAft>
                <a:spcPts val="0"/>
              </a:spcAft>
              <a:buSzPts val="1600"/>
              <a:buChar char="■"/>
              <a:defRPr/>
            </a:lvl3pPr>
            <a:lvl4pPr marL="2438339" lvl="3" indent="-440256" rtl="0">
              <a:spcBef>
                <a:spcPts val="1067"/>
              </a:spcBef>
              <a:spcAft>
                <a:spcPts val="0"/>
              </a:spcAft>
              <a:buSzPts val="1600"/>
              <a:buChar char="●"/>
              <a:defRPr/>
            </a:lvl4pPr>
            <a:lvl5pPr marL="3047924" lvl="4" indent="-440256" rtl="0">
              <a:spcBef>
                <a:spcPts val="1067"/>
              </a:spcBef>
              <a:spcAft>
                <a:spcPts val="0"/>
              </a:spcAft>
              <a:buSzPts val="1600"/>
              <a:buChar char="○"/>
              <a:defRPr/>
            </a:lvl5pPr>
            <a:lvl6pPr marL="3657509" lvl="5" indent="-440256" rtl="0">
              <a:spcBef>
                <a:spcPts val="1067"/>
              </a:spcBef>
              <a:spcAft>
                <a:spcPts val="0"/>
              </a:spcAft>
              <a:buSzPts val="1600"/>
              <a:buChar char="■"/>
              <a:defRPr/>
            </a:lvl6pPr>
            <a:lvl7pPr marL="4267093" lvl="6" indent="-440256" rtl="0">
              <a:spcBef>
                <a:spcPts val="1067"/>
              </a:spcBef>
              <a:spcAft>
                <a:spcPts val="0"/>
              </a:spcAft>
              <a:buSzPts val="1600"/>
              <a:buChar char="●"/>
              <a:defRPr/>
            </a:lvl7pPr>
            <a:lvl8pPr marL="4876678" lvl="7" indent="-440256" rtl="0">
              <a:spcBef>
                <a:spcPts val="1067"/>
              </a:spcBef>
              <a:spcAft>
                <a:spcPts val="0"/>
              </a:spcAft>
              <a:buSzPts val="1600"/>
              <a:buChar char="○"/>
              <a:defRPr/>
            </a:lvl8pPr>
            <a:lvl9pPr marL="5486263" lvl="8" indent="-440256" rtl="0">
              <a:spcBef>
                <a:spcPts val="1067"/>
              </a:spcBef>
              <a:spcAft>
                <a:spcPts val="1067"/>
              </a:spcAft>
              <a:buSzPts val="16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2"/>
          </p:nvPr>
        </p:nvSpPr>
        <p:spPr>
          <a:xfrm>
            <a:off x="3795585" y="2623300"/>
            <a:ext cx="2811600" cy="3404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40256" rtl="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1pPr>
            <a:lvl2pPr marL="1219170" lvl="1" indent="-440256" rtl="0">
              <a:spcBef>
                <a:spcPts val="1067"/>
              </a:spcBef>
              <a:spcAft>
                <a:spcPts val="0"/>
              </a:spcAft>
              <a:buSzPts val="1600"/>
              <a:buChar char="○"/>
              <a:defRPr/>
            </a:lvl2pPr>
            <a:lvl3pPr marL="1828754" lvl="2" indent="-440256" rtl="0">
              <a:spcBef>
                <a:spcPts val="1067"/>
              </a:spcBef>
              <a:spcAft>
                <a:spcPts val="0"/>
              </a:spcAft>
              <a:buSzPts val="1600"/>
              <a:buChar char="■"/>
              <a:defRPr/>
            </a:lvl3pPr>
            <a:lvl4pPr marL="2438339" lvl="3" indent="-440256" rtl="0">
              <a:spcBef>
                <a:spcPts val="1067"/>
              </a:spcBef>
              <a:spcAft>
                <a:spcPts val="0"/>
              </a:spcAft>
              <a:buSzPts val="1600"/>
              <a:buChar char="●"/>
              <a:defRPr/>
            </a:lvl4pPr>
            <a:lvl5pPr marL="3047924" lvl="4" indent="-440256" rtl="0">
              <a:spcBef>
                <a:spcPts val="1067"/>
              </a:spcBef>
              <a:spcAft>
                <a:spcPts val="0"/>
              </a:spcAft>
              <a:buSzPts val="1600"/>
              <a:buChar char="○"/>
              <a:defRPr/>
            </a:lvl5pPr>
            <a:lvl6pPr marL="3657509" lvl="5" indent="-440256" rtl="0">
              <a:spcBef>
                <a:spcPts val="1067"/>
              </a:spcBef>
              <a:spcAft>
                <a:spcPts val="0"/>
              </a:spcAft>
              <a:buSzPts val="1600"/>
              <a:buChar char="■"/>
              <a:defRPr/>
            </a:lvl6pPr>
            <a:lvl7pPr marL="4267093" lvl="6" indent="-440256" rtl="0">
              <a:spcBef>
                <a:spcPts val="1067"/>
              </a:spcBef>
              <a:spcAft>
                <a:spcPts val="0"/>
              </a:spcAft>
              <a:buSzPts val="1600"/>
              <a:buChar char="●"/>
              <a:defRPr/>
            </a:lvl7pPr>
            <a:lvl8pPr marL="4876678" lvl="7" indent="-440256" rtl="0">
              <a:spcBef>
                <a:spcPts val="1067"/>
              </a:spcBef>
              <a:spcAft>
                <a:spcPts val="0"/>
              </a:spcAft>
              <a:buSzPts val="1600"/>
              <a:buChar char="○"/>
              <a:defRPr/>
            </a:lvl8pPr>
            <a:lvl9pPr marL="5486263" lvl="8" indent="-440256" rtl="0">
              <a:spcBef>
                <a:spcPts val="1067"/>
              </a:spcBef>
              <a:spcAft>
                <a:spcPts val="1067"/>
              </a:spcAft>
              <a:buSzPts val="16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3"/>
          </p:nvPr>
        </p:nvSpPr>
        <p:spPr>
          <a:xfrm>
            <a:off x="6902369" y="2623300"/>
            <a:ext cx="2811600" cy="3404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40256" rtl="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1pPr>
            <a:lvl2pPr marL="1219170" lvl="1" indent="-440256" rtl="0">
              <a:spcBef>
                <a:spcPts val="1067"/>
              </a:spcBef>
              <a:spcAft>
                <a:spcPts val="0"/>
              </a:spcAft>
              <a:buSzPts val="1600"/>
              <a:buChar char="○"/>
              <a:defRPr/>
            </a:lvl2pPr>
            <a:lvl3pPr marL="1828754" lvl="2" indent="-440256" rtl="0">
              <a:spcBef>
                <a:spcPts val="1067"/>
              </a:spcBef>
              <a:spcAft>
                <a:spcPts val="0"/>
              </a:spcAft>
              <a:buSzPts val="1600"/>
              <a:buChar char="■"/>
              <a:defRPr/>
            </a:lvl3pPr>
            <a:lvl4pPr marL="2438339" lvl="3" indent="-440256" rtl="0">
              <a:spcBef>
                <a:spcPts val="1067"/>
              </a:spcBef>
              <a:spcAft>
                <a:spcPts val="0"/>
              </a:spcAft>
              <a:buSzPts val="1600"/>
              <a:buChar char="●"/>
              <a:defRPr/>
            </a:lvl4pPr>
            <a:lvl5pPr marL="3047924" lvl="4" indent="-440256" rtl="0">
              <a:spcBef>
                <a:spcPts val="1067"/>
              </a:spcBef>
              <a:spcAft>
                <a:spcPts val="0"/>
              </a:spcAft>
              <a:buSzPts val="1600"/>
              <a:buChar char="○"/>
              <a:defRPr/>
            </a:lvl5pPr>
            <a:lvl6pPr marL="3657509" lvl="5" indent="-440256" rtl="0">
              <a:spcBef>
                <a:spcPts val="1067"/>
              </a:spcBef>
              <a:spcAft>
                <a:spcPts val="0"/>
              </a:spcAft>
              <a:buSzPts val="1600"/>
              <a:buChar char="■"/>
              <a:defRPr/>
            </a:lvl6pPr>
            <a:lvl7pPr marL="4267093" lvl="6" indent="-440256" rtl="0">
              <a:spcBef>
                <a:spcPts val="1067"/>
              </a:spcBef>
              <a:spcAft>
                <a:spcPts val="0"/>
              </a:spcAft>
              <a:buSzPts val="1600"/>
              <a:buChar char="●"/>
              <a:defRPr/>
            </a:lvl7pPr>
            <a:lvl8pPr marL="4876678" lvl="7" indent="-440256" rtl="0">
              <a:spcBef>
                <a:spcPts val="1067"/>
              </a:spcBef>
              <a:spcAft>
                <a:spcPts val="0"/>
              </a:spcAft>
              <a:buSzPts val="1600"/>
              <a:buChar char="○"/>
              <a:defRPr/>
            </a:lvl8pPr>
            <a:lvl9pPr marL="5486263" lvl="8" indent="-440256" rtl="0">
              <a:spcBef>
                <a:spcPts val="1067"/>
              </a:spcBef>
              <a:spcAft>
                <a:spcPts val="1067"/>
              </a:spcAft>
              <a:buSzPts val="16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Google Shape;41;p7"/>
          <p:cNvSpPr txBox="1">
            <a:spLocks noGrp="1"/>
          </p:cNvSpPr>
          <p:nvPr>
            <p:ph type="sldNum" idx="12"/>
          </p:nvPr>
        </p:nvSpPr>
        <p:spPr>
          <a:xfrm>
            <a:off x="11168100" y="6333133"/>
            <a:ext cx="731600" cy="242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DA8DD845-F27E-4398-B41C-45BECC5BCC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26800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subtitle">
  <p:cSld name="Title + subtitle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 txBox="1">
            <a:spLocks noGrp="1"/>
          </p:cNvSpPr>
          <p:nvPr>
            <p:ph type="title"/>
          </p:nvPr>
        </p:nvSpPr>
        <p:spPr>
          <a:xfrm>
            <a:off x="688800" y="2207200"/>
            <a:ext cx="4905600" cy="18820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sldNum" idx="12"/>
          </p:nvPr>
        </p:nvSpPr>
        <p:spPr>
          <a:xfrm>
            <a:off x="11168100" y="6333133"/>
            <a:ext cx="731600" cy="242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DA8DD845-F27E-4398-B41C-45BECC5BCCA6}" type="slidenum">
              <a:rPr lang="en-IN" smtClean="0"/>
              <a:t>‹#›</a:t>
            </a:fld>
            <a:endParaRPr lang="en-IN"/>
          </a:p>
        </p:txBody>
      </p:sp>
      <p:sp>
        <p:nvSpPr>
          <p:cNvPr id="48" name="Google Shape;48;p9"/>
          <p:cNvSpPr/>
          <p:nvPr/>
        </p:nvSpPr>
        <p:spPr>
          <a:xfrm>
            <a:off x="326036" y="505919"/>
            <a:ext cx="719528" cy="179883"/>
          </a:xfrm>
          <a:custGeom>
            <a:avLst/>
            <a:gdLst/>
            <a:ahLst/>
            <a:cxnLst/>
            <a:rect l="l" t="t" r="r" b="b"/>
            <a:pathLst>
              <a:path w="1079292" h="269823" extrusionOk="0">
                <a:moveTo>
                  <a:pt x="134912" y="0"/>
                </a:moveTo>
                <a:cubicBezTo>
                  <a:pt x="60373" y="0"/>
                  <a:pt x="0" y="60373"/>
                  <a:pt x="0" y="134912"/>
                </a:cubicBezTo>
                <a:cubicBezTo>
                  <a:pt x="0" y="209450"/>
                  <a:pt x="60373" y="269823"/>
                  <a:pt x="134912" y="269823"/>
                </a:cubicBezTo>
                <a:cubicBezTo>
                  <a:pt x="209450" y="269823"/>
                  <a:pt x="269823" y="209450"/>
                  <a:pt x="269823" y="134912"/>
                </a:cubicBezTo>
                <a:cubicBezTo>
                  <a:pt x="269823" y="60373"/>
                  <a:pt x="209450" y="0"/>
                  <a:pt x="134912" y="0"/>
                </a:cubicBezTo>
                <a:close/>
                <a:moveTo>
                  <a:pt x="944381" y="0"/>
                </a:moveTo>
                <a:cubicBezTo>
                  <a:pt x="869842" y="0"/>
                  <a:pt x="809469" y="60373"/>
                  <a:pt x="809469" y="134912"/>
                </a:cubicBezTo>
                <a:cubicBezTo>
                  <a:pt x="809469" y="209450"/>
                  <a:pt x="869842" y="269823"/>
                  <a:pt x="944381" y="269823"/>
                </a:cubicBezTo>
                <a:cubicBezTo>
                  <a:pt x="1018919" y="269823"/>
                  <a:pt x="1079292" y="209450"/>
                  <a:pt x="1079292" y="134912"/>
                </a:cubicBezTo>
                <a:cubicBezTo>
                  <a:pt x="1079292" y="60373"/>
                  <a:pt x="1018919" y="0"/>
                  <a:pt x="944381" y="0"/>
                </a:cubicBezTo>
                <a:close/>
                <a:moveTo>
                  <a:pt x="539646" y="0"/>
                </a:moveTo>
                <a:cubicBezTo>
                  <a:pt x="465107" y="0"/>
                  <a:pt x="404735" y="60373"/>
                  <a:pt x="404735" y="134912"/>
                </a:cubicBezTo>
                <a:cubicBezTo>
                  <a:pt x="404735" y="209450"/>
                  <a:pt x="465107" y="269823"/>
                  <a:pt x="539646" y="269823"/>
                </a:cubicBezTo>
                <a:cubicBezTo>
                  <a:pt x="614185" y="269823"/>
                  <a:pt x="674558" y="209450"/>
                  <a:pt x="674558" y="134912"/>
                </a:cubicBezTo>
                <a:cubicBezTo>
                  <a:pt x="674558" y="60373"/>
                  <a:pt x="614185" y="0"/>
                  <a:pt x="53964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60967" tIns="30467" rIns="60967" bIns="30467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9"/>
          <p:cNvSpPr txBox="1">
            <a:spLocks noGrp="1"/>
          </p:cNvSpPr>
          <p:nvPr>
            <p:ph type="subTitle" idx="1"/>
          </p:nvPr>
        </p:nvSpPr>
        <p:spPr>
          <a:xfrm>
            <a:off x="688800" y="4089200"/>
            <a:ext cx="4905600" cy="35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Barlow Medium"/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spcBef>
                <a:spcPts val="1067"/>
              </a:spcBef>
              <a:spcAft>
                <a:spcPts val="0"/>
              </a:spcAft>
              <a:buSzPts val="1600"/>
              <a:buFont typeface="Barlow Medium"/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spcBef>
                <a:spcPts val="1067"/>
              </a:spcBef>
              <a:spcAft>
                <a:spcPts val="0"/>
              </a:spcAft>
              <a:buSzPts val="1600"/>
              <a:buFont typeface="Barlow Medium"/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spcBef>
                <a:spcPts val="1067"/>
              </a:spcBef>
              <a:spcAft>
                <a:spcPts val="0"/>
              </a:spcAft>
              <a:buSzPts val="1600"/>
              <a:buFont typeface="Barlow Medium"/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spcBef>
                <a:spcPts val="1067"/>
              </a:spcBef>
              <a:spcAft>
                <a:spcPts val="0"/>
              </a:spcAft>
              <a:buSzPts val="1600"/>
              <a:buFont typeface="Barlow Medium"/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spcBef>
                <a:spcPts val="1067"/>
              </a:spcBef>
              <a:spcAft>
                <a:spcPts val="0"/>
              </a:spcAft>
              <a:buSzPts val="1600"/>
              <a:buFont typeface="Barlow Medium"/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spcBef>
                <a:spcPts val="1067"/>
              </a:spcBef>
              <a:spcAft>
                <a:spcPts val="0"/>
              </a:spcAft>
              <a:buSzPts val="1600"/>
              <a:buFont typeface="Barlow Medium"/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spcBef>
                <a:spcPts val="1067"/>
              </a:spcBef>
              <a:spcAft>
                <a:spcPts val="0"/>
              </a:spcAft>
              <a:buSzPts val="1600"/>
              <a:buFont typeface="Barlow Medium"/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spcBef>
                <a:spcPts val="1067"/>
              </a:spcBef>
              <a:spcAft>
                <a:spcPts val="1067"/>
              </a:spcAft>
              <a:buSzPts val="1600"/>
              <a:buFont typeface="Barlow Medium"/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9851779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 txBox="1">
            <a:spLocks noGrp="1"/>
          </p:cNvSpPr>
          <p:nvPr>
            <p:ph type="body" idx="1"/>
          </p:nvPr>
        </p:nvSpPr>
        <p:spPr>
          <a:xfrm>
            <a:off x="688800" y="5875067"/>
            <a:ext cx="10362800" cy="405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rtl="0">
              <a:spcBef>
                <a:spcPts val="0"/>
              </a:spcBef>
              <a:spcAft>
                <a:spcPts val="1067"/>
              </a:spcAft>
              <a:buSzPts val="1800"/>
              <a:buNone/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Google Shape;52;p10"/>
          <p:cNvSpPr txBox="1">
            <a:spLocks noGrp="1"/>
          </p:cNvSpPr>
          <p:nvPr>
            <p:ph type="sldNum" idx="12"/>
          </p:nvPr>
        </p:nvSpPr>
        <p:spPr>
          <a:xfrm>
            <a:off x="11168100" y="6333133"/>
            <a:ext cx="731600" cy="242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DA8DD845-F27E-4398-B41C-45BECC5BCC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85415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/>
          <p:cNvSpPr txBox="1">
            <a:spLocks noGrp="1"/>
          </p:cNvSpPr>
          <p:nvPr>
            <p:ph type="sldNum" idx="12"/>
          </p:nvPr>
        </p:nvSpPr>
        <p:spPr>
          <a:xfrm>
            <a:off x="11168100" y="6333133"/>
            <a:ext cx="731600" cy="242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DA8DD845-F27E-4398-B41C-45BECC5BCC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88722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FE9E4-CF65-CCB3-8FB1-159EB4E7D4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2D2515-3294-AEBC-3640-D9C23F21A3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853284-9286-8092-53C6-DCBB0CDC8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AB29A-CF9C-4EED-B41D-F0B8F3C633DB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C5D70C-891B-EEB6-DA5C-E0AF91ED7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55E1FC-A860-1113-A410-DE4F6F1D8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DD845-F27E-4398-B41C-45BECC5BCC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86019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F992F-2720-8C05-2991-A1BCD2A02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7EFAE8-0663-896D-4730-0616B2B8C0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8EAB05-31AC-F00B-8986-682953FAB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AB29A-CF9C-4EED-B41D-F0B8F3C633DB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D83696-0F00-C40C-B487-26B50F239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AE2CCA-8007-E04F-2C9F-10292D244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DD845-F27E-4398-B41C-45BECC5BCC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1496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688800" y="685800"/>
            <a:ext cx="8640000" cy="9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Font typeface="Barlow"/>
              <a:buNone/>
              <a:defRPr sz="41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Font typeface="Barlow"/>
              <a:buNone/>
              <a:defRPr sz="41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Font typeface="Barlow"/>
              <a:buNone/>
              <a:defRPr sz="41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Font typeface="Barlow"/>
              <a:buNone/>
              <a:defRPr sz="41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Font typeface="Barlow"/>
              <a:buNone/>
              <a:defRPr sz="41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Font typeface="Barlow"/>
              <a:buNone/>
              <a:defRPr sz="41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Font typeface="Barlow"/>
              <a:buNone/>
              <a:defRPr sz="41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Font typeface="Barlow"/>
              <a:buNone/>
              <a:defRPr sz="41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Font typeface="Barlow"/>
              <a:buNone/>
              <a:defRPr sz="41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688800" y="2623300"/>
            <a:ext cx="9025200" cy="322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Barlow"/>
              <a:buChar char="•"/>
              <a:defRPr sz="16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3302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Barlow"/>
              <a:buChar char="○"/>
              <a:defRPr sz="16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3302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Barlow"/>
              <a:buChar char="■"/>
              <a:defRPr sz="16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3302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Barlow"/>
              <a:buChar char="●"/>
              <a:defRPr sz="16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3302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Barlow"/>
              <a:buChar char="○"/>
              <a:defRPr sz="16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3302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Barlow"/>
              <a:buChar char="■"/>
              <a:defRPr sz="16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3302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Barlow"/>
              <a:buChar char="●"/>
              <a:defRPr sz="16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3302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Barlow"/>
              <a:buChar char="○"/>
              <a:defRPr sz="16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330200" rtl="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600"/>
              <a:buFont typeface="Barlow"/>
              <a:buChar char="■"/>
              <a:defRPr sz="16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168100" y="6333133"/>
            <a:ext cx="731600" cy="24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buNone/>
              <a:defRPr sz="1467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r" rtl="0">
              <a:buNone/>
              <a:defRPr sz="1467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lvl="2" algn="r" rtl="0">
              <a:buNone/>
              <a:defRPr sz="1467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lvl="3" algn="r" rtl="0">
              <a:buNone/>
              <a:defRPr sz="1467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lvl="4" algn="r" rtl="0">
              <a:buNone/>
              <a:defRPr sz="1467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lvl="5" algn="r" rtl="0">
              <a:buNone/>
              <a:defRPr sz="1467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lvl="6" algn="r" rtl="0">
              <a:buNone/>
              <a:defRPr sz="1467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lvl="7" algn="r" rtl="0">
              <a:buNone/>
              <a:defRPr sz="1467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lvl="8" algn="r" rtl="0">
              <a:buNone/>
              <a:defRPr sz="1467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fld id="{DA8DD845-F27E-4398-B41C-45BECC5BCCA6}" type="slidenum">
              <a:rPr lang="en-IN" smtClean="0"/>
              <a:t>‹#›</a:t>
            </a:fld>
            <a:endParaRPr lang="en-IN"/>
          </a:p>
        </p:txBody>
      </p:sp>
      <p:pic>
        <p:nvPicPr>
          <p:cNvPr id="10" name="object 11">
            <a:extLst>
              <a:ext uri="{FF2B5EF4-FFF2-40B4-BE49-F238E27FC236}">
                <a16:creationId xmlns:a16="http://schemas.microsoft.com/office/drawing/2014/main" id="{B5CC9778-C0F5-1B96-C5E9-D9D357AE086B}"/>
              </a:ext>
            </a:extLst>
          </p:cNvPr>
          <p:cNvPicPr/>
          <p:nvPr userDrawn="1"/>
        </p:nvPicPr>
        <p:blipFill>
          <a:blip r:embed="rId11" cstate="print"/>
          <a:stretch>
            <a:fillRect/>
          </a:stretch>
        </p:blipFill>
        <p:spPr>
          <a:xfrm>
            <a:off x="11503200" y="161608"/>
            <a:ext cx="582168" cy="2005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812889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</p:sldLayoutIdLst>
  <p:transition>
    <p:fade thruBlk="1"/>
  </p:transition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CCE52928-1410-22FF-AA63-50E6A56B4701}"/>
              </a:ext>
            </a:extLst>
          </p:cNvPr>
          <p:cNvSpPr/>
          <p:nvPr/>
        </p:nvSpPr>
        <p:spPr>
          <a:xfrm>
            <a:off x="3720975" y="2679009"/>
            <a:ext cx="8471026" cy="4178991"/>
          </a:xfrm>
          <a:custGeom>
            <a:avLst/>
            <a:gdLst>
              <a:gd name="connsiteX0" fmla="*/ 4265200 w 4265199"/>
              <a:gd name="connsiteY0" fmla="*/ 0 h 3261360"/>
              <a:gd name="connsiteX1" fmla="*/ 4265200 w 4265199"/>
              <a:gd name="connsiteY1" fmla="*/ 3234023 h 3261360"/>
              <a:gd name="connsiteX2" fmla="*/ 4237959 w 4265199"/>
              <a:gd name="connsiteY2" fmla="*/ 3261360 h 3261360"/>
              <a:gd name="connsiteX3" fmla="*/ 0 w 4265199"/>
              <a:gd name="connsiteY3" fmla="*/ 3261360 h 3261360"/>
              <a:gd name="connsiteX4" fmla="*/ 1142048 w 4265199"/>
              <a:gd name="connsiteY4" fmla="*/ 2708720 h 3261360"/>
              <a:gd name="connsiteX5" fmla="*/ 2770823 w 4265199"/>
              <a:gd name="connsiteY5" fmla="*/ 1021652 h 3261360"/>
              <a:gd name="connsiteX6" fmla="*/ 4265200 w 4265199"/>
              <a:gd name="connsiteY6" fmla="*/ 0 h 3261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65199" h="3261360">
                <a:moveTo>
                  <a:pt x="4265200" y="0"/>
                </a:moveTo>
                <a:lnTo>
                  <a:pt x="4265200" y="3234023"/>
                </a:lnTo>
                <a:cubicBezTo>
                  <a:pt x="4265200" y="3249073"/>
                  <a:pt x="4253008" y="3261360"/>
                  <a:pt x="4237959" y="3261360"/>
                </a:cubicBezTo>
                <a:lnTo>
                  <a:pt x="0" y="3261360"/>
                </a:lnTo>
                <a:cubicBezTo>
                  <a:pt x="126492" y="3007805"/>
                  <a:pt x="427387" y="2888742"/>
                  <a:pt x="1142048" y="2708720"/>
                </a:cubicBezTo>
                <a:cubicBezTo>
                  <a:pt x="2065496" y="2476024"/>
                  <a:pt x="2261807" y="2025206"/>
                  <a:pt x="2770823" y="1021652"/>
                </a:cubicBezTo>
                <a:cubicBezTo>
                  <a:pt x="3210211" y="155448"/>
                  <a:pt x="4044791" y="20669"/>
                  <a:pt x="4265200" y="0"/>
                </a:cubicBezTo>
                <a:close/>
              </a:path>
            </a:pathLst>
          </a:custGeom>
          <a:solidFill>
            <a:srgbClr val="1B6B6B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C5882188-0EF6-6DDF-7730-34E07893FA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07360" y="1777628"/>
            <a:ext cx="5102006" cy="490874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B9C78A0-A280-6E45-5B49-01EADEC1A37E}"/>
              </a:ext>
            </a:extLst>
          </p:cNvPr>
          <p:cNvSpPr txBox="1"/>
          <p:nvPr/>
        </p:nvSpPr>
        <p:spPr>
          <a:xfrm>
            <a:off x="296878" y="2440454"/>
            <a:ext cx="7027847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0" dirty="0">
                <a:latin typeface="Franklin Gothic Demi" panose="020B0703020102020204" pitchFamily="34" charset="0"/>
              </a:rPr>
              <a:t>Home Credit Payment Difficulty Prediction</a:t>
            </a:r>
            <a:endParaRPr lang="en-IN" sz="6000" b="1" dirty="0">
              <a:solidFill>
                <a:srgbClr val="1B6B6B"/>
              </a:solidFill>
              <a:latin typeface="Franklin Gothic Demi" panose="020B0703020102020204" pitchFamily="34" charset="0"/>
              <a:cs typeface="Archivo" pitchFamily="2" charset="0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040FCBF0-41E3-66DD-211E-206337552923}"/>
              </a:ext>
            </a:extLst>
          </p:cNvPr>
          <p:cNvSpPr/>
          <p:nvPr/>
        </p:nvSpPr>
        <p:spPr>
          <a:xfrm>
            <a:off x="0" y="0"/>
            <a:ext cx="6775325" cy="1674891"/>
          </a:xfrm>
          <a:custGeom>
            <a:avLst/>
            <a:gdLst>
              <a:gd name="connsiteX0" fmla="*/ 2936462 w 3199913"/>
              <a:gd name="connsiteY0" fmla="*/ 572929 h 791033"/>
              <a:gd name="connsiteX1" fmla="*/ 1289399 w 3199913"/>
              <a:gd name="connsiteY1" fmla="*/ 508254 h 791033"/>
              <a:gd name="connsiteX2" fmla="*/ 240602 w 3199913"/>
              <a:gd name="connsiteY2" fmla="*/ 572834 h 791033"/>
              <a:gd name="connsiteX3" fmla="*/ 0 w 3199913"/>
              <a:gd name="connsiteY3" fmla="*/ 508825 h 791033"/>
              <a:gd name="connsiteX4" fmla="*/ 0 w 3199913"/>
              <a:gd name="connsiteY4" fmla="*/ 29813 h 791033"/>
              <a:gd name="connsiteX5" fmla="*/ 29813 w 3199913"/>
              <a:gd name="connsiteY5" fmla="*/ 0 h 791033"/>
              <a:gd name="connsiteX6" fmla="*/ 3195733 w 3199913"/>
              <a:gd name="connsiteY6" fmla="*/ 0 h 791033"/>
              <a:gd name="connsiteX7" fmla="*/ 2936462 w 3199913"/>
              <a:gd name="connsiteY7" fmla="*/ 572929 h 7910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99913" h="791033">
                <a:moveTo>
                  <a:pt x="2936462" y="572929"/>
                </a:moveTo>
                <a:cubicBezTo>
                  <a:pt x="2530602" y="990695"/>
                  <a:pt x="1777841" y="716566"/>
                  <a:pt x="1289399" y="508254"/>
                </a:cubicBezTo>
                <a:cubicBezTo>
                  <a:pt x="800957" y="299847"/>
                  <a:pt x="757809" y="579977"/>
                  <a:pt x="240602" y="572834"/>
                </a:cubicBezTo>
                <a:cubicBezTo>
                  <a:pt x="138684" y="571405"/>
                  <a:pt x="60293" y="547211"/>
                  <a:pt x="0" y="508825"/>
                </a:cubicBezTo>
                <a:lnTo>
                  <a:pt x="0" y="29813"/>
                </a:lnTo>
                <a:cubicBezTo>
                  <a:pt x="0" y="13335"/>
                  <a:pt x="13335" y="0"/>
                  <a:pt x="29813" y="0"/>
                </a:cubicBezTo>
                <a:lnTo>
                  <a:pt x="3195733" y="0"/>
                </a:lnTo>
                <a:cubicBezTo>
                  <a:pt x="3214878" y="132969"/>
                  <a:pt x="3174873" y="327565"/>
                  <a:pt x="2936462" y="572929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158C6B4-EBB9-C6BF-A567-83AB907F2728}"/>
              </a:ext>
            </a:extLst>
          </p:cNvPr>
          <p:cNvGrpSpPr/>
          <p:nvPr/>
        </p:nvGrpSpPr>
        <p:grpSpPr>
          <a:xfrm>
            <a:off x="0" y="57197"/>
            <a:ext cx="4341069" cy="899720"/>
            <a:chOff x="0" y="57197"/>
            <a:chExt cx="4341069" cy="89972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7F3D162F-A0B8-D2F3-ADBA-C26A3F7C613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0" y="57197"/>
              <a:ext cx="2066924" cy="899720"/>
            </a:xfrm>
            <a:prstGeom prst="rect">
              <a:avLst/>
            </a:prstGeom>
          </p:spPr>
        </p:pic>
        <p:sp>
          <p:nvSpPr>
            <p:cNvPr id="4" name="Multiplication Sign 3">
              <a:extLst>
                <a:ext uri="{FF2B5EF4-FFF2-40B4-BE49-F238E27FC236}">
                  <a16:creationId xmlns:a16="http://schemas.microsoft.com/office/drawing/2014/main" id="{015F230A-2119-F876-C087-31CABF2EEE05}"/>
                </a:ext>
              </a:extLst>
            </p:cNvPr>
            <p:cNvSpPr/>
            <p:nvPr/>
          </p:nvSpPr>
          <p:spPr>
            <a:xfrm>
              <a:off x="2119312" y="289306"/>
              <a:ext cx="485774" cy="435501"/>
            </a:xfrm>
            <a:prstGeom prst="mathMultiply">
              <a:avLst/>
            </a:prstGeom>
            <a:noFill/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29CAF1DE-7CD4-4DB5-2AB2-D7977E8A099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00776" y="289306"/>
              <a:ext cx="2140293" cy="573071"/>
            </a:xfrm>
            <a:prstGeom prst="rect">
              <a:avLst/>
            </a:prstGeom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BA490FF5-6CCA-4794-0A47-AD6D7795D5C1}"/>
              </a:ext>
            </a:extLst>
          </p:cNvPr>
          <p:cNvSpPr txBox="1"/>
          <p:nvPr/>
        </p:nvSpPr>
        <p:spPr>
          <a:xfrm>
            <a:off x="8466984" y="276225"/>
            <a:ext cx="25827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Oleh : Devin Syafa</a:t>
            </a:r>
          </a:p>
        </p:txBody>
      </p:sp>
    </p:spTree>
    <p:extLst>
      <p:ext uri="{BB962C8B-B14F-4D97-AF65-F5344CB8AC3E}">
        <p14:creationId xmlns:p14="http://schemas.microsoft.com/office/powerpoint/2010/main" val="30294411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6ACFCD9-7CA0-1BEB-62B9-7E277C4BDD29}"/>
              </a:ext>
            </a:extLst>
          </p:cNvPr>
          <p:cNvSpPr/>
          <p:nvPr/>
        </p:nvSpPr>
        <p:spPr>
          <a:xfrm>
            <a:off x="3720975" y="2679009"/>
            <a:ext cx="8471026" cy="4178991"/>
          </a:xfrm>
          <a:custGeom>
            <a:avLst/>
            <a:gdLst>
              <a:gd name="connsiteX0" fmla="*/ 4265200 w 4265199"/>
              <a:gd name="connsiteY0" fmla="*/ 0 h 3261360"/>
              <a:gd name="connsiteX1" fmla="*/ 4265200 w 4265199"/>
              <a:gd name="connsiteY1" fmla="*/ 3234023 h 3261360"/>
              <a:gd name="connsiteX2" fmla="*/ 4237959 w 4265199"/>
              <a:gd name="connsiteY2" fmla="*/ 3261360 h 3261360"/>
              <a:gd name="connsiteX3" fmla="*/ 0 w 4265199"/>
              <a:gd name="connsiteY3" fmla="*/ 3261360 h 3261360"/>
              <a:gd name="connsiteX4" fmla="*/ 1142048 w 4265199"/>
              <a:gd name="connsiteY4" fmla="*/ 2708720 h 3261360"/>
              <a:gd name="connsiteX5" fmla="*/ 2770823 w 4265199"/>
              <a:gd name="connsiteY5" fmla="*/ 1021652 h 3261360"/>
              <a:gd name="connsiteX6" fmla="*/ 4265200 w 4265199"/>
              <a:gd name="connsiteY6" fmla="*/ 0 h 3261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65199" h="3261360">
                <a:moveTo>
                  <a:pt x="4265200" y="0"/>
                </a:moveTo>
                <a:lnTo>
                  <a:pt x="4265200" y="3234023"/>
                </a:lnTo>
                <a:cubicBezTo>
                  <a:pt x="4265200" y="3249073"/>
                  <a:pt x="4253008" y="3261360"/>
                  <a:pt x="4237959" y="3261360"/>
                </a:cubicBezTo>
                <a:lnTo>
                  <a:pt x="0" y="3261360"/>
                </a:lnTo>
                <a:cubicBezTo>
                  <a:pt x="126492" y="3007805"/>
                  <a:pt x="427387" y="2888742"/>
                  <a:pt x="1142048" y="2708720"/>
                </a:cubicBezTo>
                <a:cubicBezTo>
                  <a:pt x="2065496" y="2476024"/>
                  <a:pt x="2261807" y="2025206"/>
                  <a:pt x="2770823" y="1021652"/>
                </a:cubicBezTo>
                <a:cubicBezTo>
                  <a:pt x="3210211" y="155448"/>
                  <a:pt x="4044791" y="20669"/>
                  <a:pt x="4265200" y="0"/>
                </a:cubicBezTo>
                <a:close/>
              </a:path>
            </a:pathLst>
          </a:custGeom>
          <a:solidFill>
            <a:srgbClr val="1B6B6B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FAC503-8E96-3D41-024C-B352A260AA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Research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5ECA781-342B-DAF0-59EE-3F1E124DAB5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8800" y="1643000"/>
            <a:ext cx="9188625" cy="43832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1800" dirty="0"/>
              <a:t>Masalah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1800" dirty="0">
              <a:solidFill>
                <a:schemeClr val="tx1"/>
              </a:solidFill>
              <a:latin typeface="Barlow" panose="00000500000000000000" pitchFamily="2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rlow" panose="00000500000000000000" pitchFamily="2" charset="0"/>
              </a:rPr>
              <a:t>Kasus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rlow" panose="00000500000000000000" pitchFamily="2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rlow" panose="00000500000000000000" pitchFamily="2" charset="0"/>
              </a:rPr>
              <a:t>gagal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rlow" panose="00000500000000000000" pitchFamily="2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rlow" panose="00000500000000000000" pitchFamily="2" charset="0"/>
              </a:rPr>
              <a:t>bayar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rlow" panose="00000500000000000000" pitchFamily="2" charset="0"/>
              </a:rPr>
              <a:t> (TARGET = 1)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rlow" panose="00000500000000000000" pitchFamily="2" charset="0"/>
              </a:rPr>
              <a:t>hanya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rlow" panose="00000500000000000000" pitchFamily="2" charset="0"/>
              </a:rPr>
              <a:t> ±8% → data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rlow" panose="00000500000000000000" pitchFamily="2" charset="0"/>
              </a:rPr>
              <a:t>tidak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rlow" panose="00000500000000000000" pitchFamily="2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rlow" panose="00000500000000000000" pitchFamily="2" charset="0"/>
              </a:rPr>
              <a:t>seimbang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rlow" panose="00000500000000000000" pitchFamily="2" charset="0"/>
              </a:rPr>
              <a:t> (imbalanced).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rlow" panose="00000500000000000000" pitchFamily="2" charset="0"/>
              </a:rPr>
              <a:t>Risiko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rlow" panose="00000500000000000000" pitchFamily="2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rlow" panose="00000500000000000000" pitchFamily="2" charset="0"/>
              </a:rPr>
              <a:t>gagal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rlow" panose="00000500000000000000" pitchFamily="2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rlow" panose="00000500000000000000" pitchFamily="2" charset="0"/>
              </a:rPr>
              <a:t>bayar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rlow" panose="00000500000000000000" pitchFamily="2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rlow" panose="00000500000000000000" pitchFamily="2" charset="0"/>
              </a:rPr>
              <a:t>menyebabkan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rlow" panose="00000500000000000000" pitchFamily="2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rlow" panose="00000500000000000000" pitchFamily="2" charset="0"/>
              </a:rPr>
              <a:t>kerugian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rlow" panose="00000500000000000000" pitchFamily="2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rlow" panose="00000500000000000000" pitchFamily="2" charset="0"/>
              </a:rPr>
              <a:t>finansial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rlow" panose="00000500000000000000" pitchFamily="2" charset="0"/>
              </a:rPr>
              <a:t>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rlow" panose="00000500000000000000" pitchFamily="2" charset="0"/>
              </a:rPr>
              <a:t>Perlu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rlow" panose="00000500000000000000" pitchFamily="2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rlow" panose="00000500000000000000" pitchFamily="2" charset="0"/>
              </a:rPr>
              <a:t>sistem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rlow" panose="00000500000000000000" pitchFamily="2" charset="0"/>
              </a:rPr>
              <a:t> screening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rlow" panose="00000500000000000000" pitchFamily="2" charset="0"/>
              </a:rPr>
              <a:t>awal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rlow" panose="00000500000000000000" pitchFamily="2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rlow" panose="00000500000000000000" pitchFamily="2" charset="0"/>
              </a:rPr>
              <a:t>berbasis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rlow" panose="00000500000000000000" pitchFamily="2" charset="0"/>
              </a:rPr>
              <a:t> data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solidFill>
                <a:schemeClr val="tx1"/>
              </a:solidFill>
              <a:latin typeface="Barlow" panose="00000500000000000000" pitchFamily="2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1800" dirty="0"/>
              <a:t>Tujuan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rlow" panose="00000500000000000000" pitchFamily="2" charset="0"/>
            </a:endParaRPr>
          </a:p>
          <a:p>
            <a:r>
              <a:rPr lang="en-US" sz="1800" dirty="0" err="1"/>
              <a:t>Memprediksi</a:t>
            </a:r>
            <a:r>
              <a:rPr lang="en-US" sz="1800" dirty="0"/>
              <a:t> </a:t>
            </a:r>
            <a:r>
              <a:rPr lang="en-US" sz="1800" dirty="0" err="1"/>
              <a:t>probabilitas</a:t>
            </a:r>
            <a:r>
              <a:rPr lang="en-US" sz="1800" dirty="0"/>
              <a:t> </a:t>
            </a:r>
            <a:r>
              <a:rPr lang="en-US" sz="1800" dirty="0" err="1"/>
              <a:t>gagal</a:t>
            </a:r>
            <a:r>
              <a:rPr lang="en-US" sz="1800" dirty="0"/>
              <a:t> </a:t>
            </a:r>
            <a:r>
              <a:rPr lang="en-US" sz="1800" dirty="0" err="1"/>
              <a:t>bayar</a:t>
            </a:r>
            <a:r>
              <a:rPr lang="en-US" sz="1800" dirty="0"/>
              <a:t>.</a:t>
            </a:r>
          </a:p>
          <a:p>
            <a:r>
              <a:rPr lang="en-US" sz="1800" dirty="0" err="1"/>
              <a:t>Membandingkan</a:t>
            </a:r>
            <a:r>
              <a:rPr lang="en-US" sz="1800" dirty="0"/>
              <a:t>:</a:t>
            </a:r>
          </a:p>
          <a:p>
            <a:pPr lvl="1"/>
            <a:r>
              <a:rPr lang="en-US" sz="1800" dirty="0"/>
              <a:t>Model baseline (data </a:t>
            </a:r>
            <a:r>
              <a:rPr lang="en-US" sz="1800" dirty="0" err="1"/>
              <a:t>aplikasi</a:t>
            </a:r>
            <a:r>
              <a:rPr lang="en-US" sz="1800" dirty="0"/>
              <a:t> </a:t>
            </a:r>
            <a:r>
              <a:rPr lang="en-US" sz="1800" dirty="0" err="1"/>
              <a:t>saja</a:t>
            </a:r>
            <a:r>
              <a:rPr lang="en-US" sz="1800" dirty="0"/>
              <a:t>)</a:t>
            </a:r>
          </a:p>
          <a:p>
            <a:pPr lvl="1"/>
            <a:r>
              <a:rPr lang="en-US" sz="1800" dirty="0"/>
              <a:t>Model </a:t>
            </a:r>
            <a:r>
              <a:rPr lang="en-US" sz="1800" dirty="0" err="1"/>
              <a:t>dengan</a:t>
            </a:r>
            <a:r>
              <a:rPr lang="en-US" sz="1800" dirty="0"/>
              <a:t> external credit history</a:t>
            </a:r>
          </a:p>
          <a:p>
            <a:r>
              <a:rPr lang="en-US" sz="1800" dirty="0" err="1"/>
              <a:t>Mengidentifikasi</a:t>
            </a:r>
            <a:r>
              <a:rPr lang="en-US" sz="1800" dirty="0"/>
              <a:t> </a:t>
            </a:r>
            <a:r>
              <a:rPr lang="en-US" sz="1800" dirty="0" err="1"/>
              <a:t>faktor</a:t>
            </a:r>
            <a:r>
              <a:rPr lang="en-US" sz="1800" dirty="0"/>
              <a:t> </a:t>
            </a:r>
            <a:r>
              <a:rPr lang="en-US" sz="1800" dirty="0" err="1"/>
              <a:t>risiko</a:t>
            </a:r>
            <a:r>
              <a:rPr lang="en-US" sz="1800" dirty="0"/>
              <a:t> </a:t>
            </a:r>
            <a:r>
              <a:rPr lang="en-US" sz="1800" dirty="0" err="1"/>
              <a:t>utama</a:t>
            </a:r>
            <a:r>
              <a:rPr lang="en-US" sz="1800" dirty="0"/>
              <a:t>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rlow" panose="00000500000000000000" pitchFamily="2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FDE3E63-A244-A837-5B6F-030D4A4F4E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6251" y="2699210"/>
            <a:ext cx="4839799" cy="3619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4243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6AD985F3-C309-C480-9B77-171C06C193EE}"/>
              </a:ext>
            </a:extLst>
          </p:cNvPr>
          <p:cNvSpPr/>
          <p:nvPr/>
        </p:nvSpPr>
        <p:spPr>
          <a:xfrm flipV="1">
            <a:off x="3720974" y="0"/>
            <a:ext cx="8471026" cy="3663200"/>
          </a:xfrm>
          <a:custGeom>
            <a:avLst/>
            <a:gdLst>
              <a:gd name="connsiteX0" fmla="*/ 4265200 w 4265199"/>
              <a:gd name="connsiteY0" fmla="*/ 0 h 3261360"/>
              <a:gd name="connsiteX1" fmla="*/ 4265200 w 4265199"/>
              <a:gd name="connsiteY1" fmla="*/ 3234023 h 3261360"/>
              <a:gd name="connsiteX2" fmla="*/ 4237959 w 4265199"/>
              <a:gd name="connsiteY2" fmla="*/ 3261360 h 3261360"/>
              <a:gd name="connsiteX3" fmla="*/ 0 w 4265199"/>
              <a:gd name="connsiteY3" fmla="*/ 3261360 h 3261360"/>
              <a:gd name="connsiteX4" fmla="*/ 1142048 w 4265199"/>
              <a:gd name="connsiteY4" fmla="*/ 2708720 h 3261360"/>
              <a:gd name="connsiteX5" fmla="*/ 2770823 w 4265199"/>
              <a:gd name="connsiteY5" fmla="*/ 1021652 h 3261360"/>
              <a:gd name="connsiteX6" fmla="*/ 4265200 w 4265199"/>
              <a:gd name="connsiteY6" fmla="*/ 0 h 3261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65199" h="3261360">
                <a:moveTo>
                  <a:pt x="4265200" y="0"/>
                </a:moveTo>
                <a:lnTo>
                  <a:pt x="4265200" y="3234023"/>
                </a:lnTo>
                <a:cubicBezTo>
                  <a:pt x="4265200" y="3249073"/>
                  <a:pt x="4253008" y="3261360"/>
                  <a:pt x="4237959" y="3261360"/>
                </a:cubicBezTo>
                <a:lnTo>
                  <a:pt x="0" y="3261360"/>
                </a:lnTo>
                <a:cubicBezTo>
                  <a:pt x="126492" y="3007805"/>
                  <a:pt x="427387" y="2888742"/>
                  <a:pt x="1142048" y="2708720"/>
                </a:cubicBezTo>
                <a:cubicBezTo>
                  <a:pt x="2065496" y="2476024"/>
                  <a:pt x="2261807" y="2025206"/>
                  <a:pt x="2770823" y="1021652"/>
                </a:cubicBezTo>
                <a:cubicBezTo>
                  <a:pt x="3210211" y="155448"/>
                  <a:pt x="4044791" y="20669"/>
                  <a:pt x="4265200" y="0"/>
                </a:cubicBezTo>
                <a:close/>
              </a:path>
            </a:pathLst>
          </a:custGeom>
          <a:solidFill>
            <a:srgbClr val="1B6B6B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FE55CA1B-BA19-EE92-C3EB-5E99477D643F}"/>
              </a:ext>
            </a:extLst>
          </p:cNvPr>
          <p:cNvSpPr/>
          <p:nvPr/>
        </p:nvSpPr>
        <p:spPr>
          <a:xfrm>
            <a:off x="0" y="0"/>
            <a:ext cx="6775325" cy="1674891"/>
          </a:xfrm>
          <a:custGeom>
            <a:avLst/>
            <a:gdLst>
              <a:gd name="connsiteX0" fmla="*/ 2936462 w 3199913"/>
              <a:gd name="connsiteY0" fmla="*/ 572929 h 791033"/>
              <a:gd name="connsiteX1" fmla="*/ 1289399 w 3199913"/>
              <a:gd name="connsiteY1" fmla="*/ 508254 h 791033"/>
              <a:gd name="connsiteX2" fmla="*/ 240602 w 3199913"/>
              <a:gd name="connsiteY2" fmla="*/ 572834 h 791033"/>
              <a:gd name="connsiteX3" fmla="*/ 0 w 3199913"/>
              <a:gd name="connsiteY3" fmla="*/ 508825 h 791033"/>
              <a:gd name="connsiteX4" fmla="*/ 0 w 3199913"/>
              <a:gd name="connsiteY4" fmla="*/ 29813 h 791033"/>
              <a:gd name="connsiteX5" fmla="*/ 29813 w 3199913"/>
              <a:gd name="connsiteY5" fmla="*/ 0 h 791033"/>
              <a:gd name="connsiteX6" fmla="*/ 3195733 w 3199913"/>
              <a:gd name="connsiteY6" fmla="*/ 0 h 791033"/>
              <a:gd name="connsiteX7" fmla="*/ 2936462 w 3199913"/>
              <a:gd name="connsiteY7" fmla="*/ 572929 h 7910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99913" h="791033">
                <a:moveTo>
                  <a:pt x="2936462" y="572929"/>
                </a:moveTo>
                <a:cubicBezTo>
                  <a:pt x="2530602" y="990695"/>
                  <a:pt x="1777841" y="716566"/>
                  <a:pt x="1289399" y="508254"/>
                </a:cubicBezTo>
                <a:cubicBezTo>
                  <a:pt x="800957" y="299847"/>
                  <a:pt x="757809" y="579977"/>
                  <a:pt x="240602" y="572834"/>
                </a:cubicBezTo>
                <a:cubicBezTo>
                  <a:pt x="138684" y="571405"/>
                  <a:pt x="60293" y="547211"/>
                  <a:pt x="0" y="508825"/>
                </a:cubicBezTo>
                <a:lnTo>
                  <a:pt x="0" y="29813"/>
                </a:lnTo>
                <a:cubicBezTo>
                  <a:pt x="0" y="13335"/>
                  <a:pt x="13335" y="0"/>
                  <a:pt x="29813" y="0"/>
                </a:cubicBezTo>
                <a:lnTo>
                  <a:pt x="3195733" y="0"/>
                </a:lnTo>
                <a:cubicBezTo>
                  <a:pt x="3214878" y="132969"/>
                  <a:pt x="3174873" y="327565"/>
                  <a:pt x="2936462" y="572929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40BECED-8950-5E44-701D-6F014923B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 Overview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DD3ED2-01FE-C6BF-ED07-E4FCF689E6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69329" indent="0">
              <a:buNone/>
            </a:pPr>
            <a:r>
              <a:rPr lang="en-US" b="1" dirty="0" err="1"/>
              <a:t>Sumber</a:t>
            </a:r>
            <a:r>
              <a:rPr lang="en-US" b="1" dirty="0"/>
              <a:t> Data</a:t>
            </a:r>
          </a:p>
          <a:p>
            <a:r>
              <a:rPr lang="en-US" dirty="0" err="1"/>
              <a:t>application_train</a:t>
            </a:r>
            <a:r>
              <a:rPr lang="en-US" dirty="0"/>
              <a:t> (</a:t>
            </a:r>
            <a:r>
              <a:rPr lang="en-US" dirty="0" err="1"/>
              <a:t>dengan</a:t>
            </a:r>
            <a:r>
              <a:rPr lang="en-US" dirty="0"/>
              <a:t> TARGET)</a:t>
            </a:r>
          </a:p>
          <a:p>
            <a:r>
              <a:rPr lang="en-US" dirty="0" err="1"/>
              <a:t>application_test</a:t>
            </a:r>
            <a:r>
              <a:rPr lang="en-US" dirty="0"/>
              <a:t> (</a:t>
            </a:r>
            <a:r>
              <a:rPr lang="en-US" dirty="0" err="1"/>
              <a:t>tanpa</a:t>
            </a:r>
            <a:r>
              <a:rPr lang="en-US" dirty="0"/>
              <a:t> TARGET)</a:t>
            </a:r>
          </a:p>
          <a:p>
            <a:r>
              <a:rPr lang="en-US" dirty="0"/>
              <a:t>bureau</a:t>
            </a:r>
          </a:p>
          <a:p>
            <a:r>
              <a:rPr lang="en-US" dirty="0" err="1"/>
              <a:t>previous_application</a:t>
            </a:r>
            <a:endParaRPr lang="en-US" dirty="0"/>
          </a:p>
          <a:p>
            <a:r>
              <a:rPr lang="en-US" dirty="0" err="1"/>
              <a:t>installments_payments</a:t>
            </a:r>
            <a:endParaRPr lang="en-US" dirty="0"/>
          </a:p>
          <a:p>
            <a:r>
              <a:rPr lang="en-US" dirty="0" err="1"/>
              <a:t>pos_cash_balance</a:t>
            </a:r>
            <a:endParaRPr lang="en-US" dirty="0"/>
          </a:p>
          <a:p>
            <a:r>
              <a:rPr lang="en-US" dirty="0" err="1"/>
              <a:t>credit_card_balance</a:t>
            </a:r>
            <a:endParaRPr lang="en-US" dirty="0"/>
          </a:p>
          <a:p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9D95349-0404-DD7A-5BC2-FE46FB9C07A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5497168" y="2623300"/>
            <a:ext cx="4216800" cy="3663200"/>
          </a:xfrm>
        </p:spPr>
        <p:txBody>
          <a:bodyPr/>
          <a:lstStyle/>
          <a:p>
            <a:pPr marL="169329" indent="0">
              <a:buNone/>
            </a:pPr>
            <a:r>
              <a:rPr lang="en-US" b="1" dirty="0" err="1"/>
              <a:t>Jumlah</a:t>
            </a:r>
            <a:r>
              <a:rPr lang="en-US" b="1" dirty="0"/>
              <a:t> data: </a:t>
            </a:r>
          </a:p>
          <a:p>
            <a:pPr marL="169329" indent="0">
              <a:buNone/>
            </a:pPr>
            <a:endParaRPr lang="en-US" dirty="0"/>
          </a:p>
          <a:p>
            <a:r>
              <a:rPr lang="en-US" dirty="0"/>
              <a:t>307.511 baris </a:t>
            </a:r>
          </a:p>
          <a:p>
            <a:endParaRPr lang="en-US" dirty="0"/>
          </a:p>
          <a:p>
            <a:pPr marL="169329" indent="0">
              <a:buNone/>
            </a:pPr>
            <a:r>
              <a:rPr lang="en-US" b="1" dirty="0" err="1"/>
              <a:t>Jumlah</a:t>
            </a:r>
            <a:r>
              <a:rPr lang="en-US" b="1" dirty="0"/>
              <a:t> </a:t>
            </a:r>
            <a:r>
              <a:rPr lang="en-US" b="1" dirty="0" err="1"/>
              <a:t>fitur</a:t>
            </a:r>
            <a:r>
              <a:rPr lang="en-US" b="1" dirty="0"/>
              <a:t> </a:t>
            </a:r>
            <a:r>
              <a:rPr lang="en-US" b="1" dirty="0" err="1"/>
              <a:t>awal</a:t>
            </a:r>
            <a:r>
              <a:rPr lang="en-US" b="1" dirty="0"/>
              <a:t>: </a:t>
            </a:r>
          </a:p>
          <a:p>
            <a:pPr marL="169329" indent="0">
              <a:buNone/>
            </a:pPr>
            <a:endParaRPr lang="en-US" dirty="0"/>
          </a:p>
          <a:p>
            <a:r>
              <a:rPr lang="en-US" dirty="0"/>
              <a:t>233 </a:t>
            </a:r>
            <a:r>
              <a:rPr lang="en-US" dirty="0" err="1"/>
              <a:t>kolom</a:t>
            </a:r>
            <a:endParaRPr lang="en-US" dirty="0"/>
          </a:p>
          <a:p>
            <a:pPr marL="169329" indent="0">
              <a:buNone/>
            </a:pPr>
            <a:endParaRPr lang="en-US" dirty="0"/>
          </a:p>
          <a:p>
            <a:pPr marL="169329" indent="0">
              <a:buNone/>
            </a:pPr>
            <a:r>
              <a:rPr lang="en-US" b="1" dirty="0"/>
              <a:t>Target variable: </a:t>
            </a:r>
          </a:p>
          <a:p>
            <a:pPr marL="169329" indent="0">
              <a:buNone/>
            </a:pPr>
            <a:endParaRPr lang="en-US" dirty="0"/>
          </a:p>
          <a:p>
            <a:r>
              <a:rPr lang="en-US" dirty="0"/>
              <a:t>TARGET 0 → Tidak </a:t>
            </a:r>
            <a:r>
              <a:rPr lang="en-US" dirty="0" err="1"/>
              <a:t>gagal</a:t>
            </a:r>
            <a:r>
              <a:rPr lang="en-US" dirty="0"/>
              <a:t> </a:t>
            </a:r>
            <a:r>
              <a:rPr lang="en-US" dirty="0" err="1"/>
              <a:t>bayar</a:t>
            </a:r>
            <a:r>
              <a:rPr lang="en-US" dirty="0"/>
              <a:t> 1 → </a:t>
            </a:r>
            <a:r>
              <a:rPr lang="en-US" dirty="0" err="1"/>
              <a:t>Gagal</a:t>
            </a:r>
            <a:r>
              <a:rPr lang="en-US" dirty="0"/>
              <a:t> </a:t>
            </a:r>
            <a:r>
              <a:rPr lang="en-US" dirty="0" err="1"/>
              <a:t>bayar</a:t>
            </a:r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004F027-B8AC-33BB-5E90-2D852A40772D}"/>
              </a:ext>
            </a:extLst>
          </p:cNvPr>
          <p:cNvGrpSpPr/>
          <p:nvPr/>
        </p:nvGrpSpPr>
        <p:grpSpPr>
          <a:xfrm>
            <a:off x="0" y="4772025"/>
            <a:ext cx="4410075" cy="2192026"/>
            <a:chOff x="0" y="7268971"/>
            <a:chExt cx="6210300" cy="3343155"/>
          </a:xfrm>
          <a:solidFill>
            <a:srgbClr val="1B6B6B"/>
          </a:solidFill>
        </p:grpSpPr>
        <p:sp>
          <p:nvSpPr>
            <p:cNvPr id="10" name="object 2">
              <a:extLst>
                <a:ext uri="{FF2B5EF4-FFF2-40B4-BE49-F238E27FC236}">
                  <a16:creationId xmlns:a16="http://schemas.microsoft.com/office/drawing/2014/main" id="{9B60B5BF-AF3F-477B-98D6-F464273A5EC3}"/>
                </a:ext>
              </a:extLst>
            </p:cNvPr>
            <p:cNvSpPr/>
            <p:nvPr/>
          </p:nvSpPr>
          <p:spPr>
            <a:xfrm>
              <a:off x="1771094" y="7633334"/>
              <a:ext cx="4439206" cy="2939416"/>
            </a:xfrm>
            <a:custGeom>
              <a:avLst/>
              <a:gdLst/>
              <a:ahLst/>
              <a:cxnLst/>
              <a:rect l="l" t="t" r="r" b="b"/>
              <a:pathLst>
                <a:path w="5307330" h="2653665">
                  <a:moveTo>
                    <a:pt x="2653585" y="0"/>
                  </a:moveTo>
                  <a:lnTo>
                    <a:pt x="0" y="2653665"/>
                  </a:lnTo>
                  <a:lnTo>
                    <a:pt x="5307270" y="2653665"/>
                  </a:lnTo>
                  <a:lnTo>
                    <a:pt x="2653585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4">
              <a:extLst>
                <a:ext uri="{FF2B5EF4-FFF2-40B4-BE49-F238E27FC236}">
                  <a16:creationId xmlns:a16="http://schemas.microsoft.com/office/drawing/2014/main" id="{7F4F8AB5-4CB2-1596-BAE3-CBF2E1EDE0F5}"/>
                </a:ext>
              </a:extLst>
            </p:cNvPr>
            <p:cNvSpPr/>
            <p:nvPr/>
          </p:nvSpPr>
          <p:spPr>
            <a:xfrm>
              <a:off x="1" y="7268971"/>
              <a:ext cx="4138054" cy="3343155"/>
            </a:xfrm>
            <a:custGeom>
              <a:avLst/>
              <a:gdLst/>
              <a:ahLst/>
              <a:cxnLst/>
              <a:rect l="l" t="t" r="r" b="b"/>
              <a:pathLst>
                <a:path w="4947285" h="3018154">
                  <a:moveTo>
                    <a:pt x="1929257" y="0"/>
                  </a:moveTo>
                  <a:lnTo>
                    <a:pt x="0" y="1929192"/>
                  </a:lnTo>
                  <a:lnTo>
                    <a:pt x="0" y="3018026"/>
                  </a:lnTo>
                  <a:lnTo>
                    <a:pt x="4947273" y="3018026"/>
                  </a:lnTo>
                  <a:lnTo>
                    <a:pt x="1929257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6">
              <a:extLst>
                <a:ext uri="{FF2B5EF4-FFF2-40B4-BE49-F238E27FC236}">
                  <a16:creationId xmlns:a16="http://schemas.microsoft.com/office/drawing/2014/main" id="{C6B0E90A-82F0-1A17-8EA4-6CF0B536EFC2}"/>
                </a:ext>
              </a:extLst>
            </p:cNvPr>
            <p:cNvSpPr/>
            <p:nvPr/>
          </p:nvSpPr>
          <p:spPr>
            <a:xfrm>
              <a:off x="2671827" y="8512429"/>
              <a:ext cx="2969031" cy="1965941"/>
            </a:xfrm>
            <a:custGeom>
              <a:avLst/>
              <a:gdLst/>
              <a:ahLst/>
              <a:cxnLst/>
              <a:rect l="l" t="t" r="r" b="b"/>
              <a:pathLst>
                <a:path w="3549650" h="1774825">
                  <a:moveTo>
                    <a:pt x="1774569" y="0"/>
                  </a:moveTo>
                  <a:lnTo>
                    <a:pt x="0" y="1774569"/>
                  </a:lnTo>
                  <a:lnTo>
                    <a:pt x="3549205" y="1774569"/>
                  </a:lnTo>
                  <a:lnTo>
                    <a:pt x="1774569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8">
              <a:extLst>
                <a:ext uri="{FF2B5EF4-FFF2-40B4-BE49-F238E27FC236}">
                  <a16:creationId xmlns:a16="http://schemas.microsoft.com/office/drawing/2014/main" id="{631C6C9B-C4CD-50CC-54D4-D99FE8E9C4FB}"/>
                </a:ext>
              </a:extLst>
            </p:cNvPr>
            <p:cNvSpPr/>
            <p:nvPr/>
          </p:nvSpPr>
          <p:spPr>
            <a:xfrm>
              <a:off x="3240508" y="9081096"/>
              <a:ext cx="2017773" cy="1336418"/>
            </a:xfrm>
            <a:custGeom>
              <a:avLst/>
              <a:gdLst/>
              <a:ahLst/>
              <a:cxnLst/>
              <a:rect l="l" t="t" r="r" b="b"/>
              <a:pathLst>
                <a:path w="2412365" h="1206500">
                  <a:moveTo>
                    <a:pt x="0" y="1205901"/>
                  </a:moveTo>
                  <a:lnTo>
                    <a:pt x="1205888" y="0"/>
                  </a:lnTo>
                  <a:lnTo>
                    <a:pt x="2411821" y="1205901"/>
                  </a:lnTo>
                </a:path>
              </a:pathLst>
            </a:custGeom>
            <a:grpFill/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0">
              <a:extLst>
                <a:ext uri="{FF2B5EF4-FFF2-40B4-BE49-F238E27FC236}">
                  <a16:creationId xmlns:a16="http://schemas.microsoft.com/office/drawing/2014/main" id="{7C12310E-BF1C-B2C8-D4EA-96A1AB4F1F73}"/>
                </a:ext>
              </a:extLst>
            </p:cNvPr>
            <p:cNvSpPr/>
            <p:nvPr/>
          </p:nvSpPr>
          <p:spPr>
            <a:xfrm>
              <a:off x="0" y="7917560"/>
              <a:ext cx="3595767" cy="2625006"/>
            </a:xfrm>
            <a:custGeom>
              <a:avLst/>
              <a:gdLst/>
              <a:ahLst/>
              <a:cxnLst/>
              <a:rect l="l" t="t" r="r" b="b"/>
              <a:pathLst>
                <a:path w="4298950" h="2369820">
                  <a:moveTo>
                    <a:pt x="0" y="1929192"/>
                  </a:moveTo>
                  <a:lnTo>
                    <a:pt x="1929257" y="0"/>
                  </a:lnTo>
                  <a:lnTo>
                    <a:pt x="4298687" y="2369438"/>
                  </a:lnTo>
                </a:path>
              </a:pathLst>
            </a:custGeom>
            <a:grpFill/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0729473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62AECA-4C39-E2F3-0A51-B9E113F22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5E32BFB-ABA0-660F-8D4D-1ED2C3716A40}"/>
              </a:ext>
            </a:extLst>
          </p:cNvPr>
          <p:cNvSpPr/>
          <p:nvPr/>
        </p:nvSpPr>
        <p:spPr>
          <a:xfrm flipV="1">
            <a:off x="3720974" y="0"/>
            <a:ext cx="8471026" cy="3663200"/>
          </a:xfrm>
          <a:custGeom>
            <a:avLst/>
            <a:gdLst>
              <a:gd name="connsiteX0" fmla="*/ 4265200 w 4265199"/>
              <a:gd name="connsiteY0" fmla="*/ 0 h 3261360"/>
              <a:gd name="connsiteX1" fmla="*/ 4265200 w 4265199"/>
              <a:gd name="connsiteY1" fmla="*/ 3234023 h 3261360"/>
              <a:gd name="connsiteX2" fmla="*/ 4237959 w 4265199"/>
              <a:gd name="connsiteY2" fmla="*/ 3261360 h 3261360"/>
              <a:gd name="connsiteX3" fmla="*/ 0 w 4265199"/>
              <a:gd name="connsiteY3" fmla="*/ 3261360 h 3261360"/>
              <a:gd name="connsiteX4" fmla="*/ 1142048 w 4265199"/>
              <a:gd name="connsiteY4" fmla="*/ 2708720 h 3261360"/>
              <a:gd name="connsiteX5" fmla="*/ 2770823 w 4265199"/>
              <a:gd name="connsiteY5" fmla="*/ 1021652 h 3261360"/>
              <a:gd name="connsiteX6" fmla="*/ 4265200 w 4265199"/>
              <a:gd name="connsiteY6" fmla="*/ 0 h 3261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65199" h="3261360">
                <a:moveTo>
                  <a:pt x="4265200" y="0"/>
                </a:moveTo>
                <a:lnTo>
                  <a:pt x="4265200" y="3234023"/>
                </a:lnTo>
                <a:cubicBezTo>
                  <a:pt x="4265200" y="3249073"/>
                  <a:pt x="4253008" y="3261360"/>
                  <a:pt x="4237959" y="3261360"/>
                </a:cubicBezTo>
                <a:lnTo>
                  <a:pt x="0" y="3261360"/>
                </a:lnTo>
                <a:cubicBezTo>
                  <a:pt x="126492" y="3007805"/>
                  <a:pt x="427387" y="2888742"/>
                  <a:pt x="1142048" y="2708720"/>
                </a:cubicBezTo>
                <a:cubicBezTo>
                  <a:pt x="2065496" y="2476024"/>
                  <a:pt x="2261807" y="2025206"/>
                  <a:pt x="2770823" y="1021652"/>
                </a:cubicBezTo>
                <a:cubicBezTo>
                  <a:pt x="3210211" y="155448"/>
                  <a:pt x="4044791" y="20669"/>
                  <a:pt x="4265200" y="0"/>
                </a:cubicBezTo>
                <a:close/>
              </a:path>
            </a:pathLst>
          </a:custGeom>
          <a:solidFill>
            <a:srgbClr val="1B6B6B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D4551D3-22E7-4989-2C01-5B4B3287B392}"/>
              </a:ext>
            </a:extLst>
          </p:cNvPr>
          <p:cNvSpPr/>
          <p:nvPr/>
        </p:nvSpPr>
        <p:spPr>
          <a:xfrm>
            <a:off x="0" y="0"/>
            <a:ext cx="6775325" cy="1674891"/>
          </a:xfrm>
          <a:custGeom>
            <a:avLst/>
            <a:gdLst>
              <a:gd name="connsiteX0" fmla="*/ 2936462 w 3199913"/>
              <a:gd name="connsiteY0" fmla="*/ 572929 h 791033"/>
              <a:gd name="connsiteX1" fmla="*/ 1289399 w 3199913"/>
              <a:gd name="connsiteY1" fmla="*/ 508254 h 791033"/>
              <a:gd name="connsiteX2" fmla="*/ 240602 w 3199913"/>
              <a:gd name="connsiteY2" fmla="*/ 572834 h 791033"/>
              <a:gd name="connsiteX3" fmla="*/ 0 w 3199913"/>
              <a:gd name="connsiteY3" fmla="*/ 508825 h 791033"/>
              <a:gd name="connsiteX4" fmla="*/ 0 w 3199913"/>
              <a:gd name="connsiteY4" fmla="*/ 29813 h 791033"/>
              <a:gd name="connsiteX5" fmla="*/ 29813 w 3199913"/>
              <a:gd name="connsiteY5" fmla="*/ 0 h 791033"/>
              <a:gd name="connsiteX6" fmla="*/ 3195733 w 3199913"/>
              <a:gd name="connsiteY6" fmla="*/ 0 h 791033"/>
              <a:gd name="connsiteX7" fmla="*/ 2936462 w 3199913"/>
              <a:gd name="connsiteY7" fmla="*/ 572929 h 7910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99913" h="791033">
                <a:moveTo>
                  <a:pt x="2936462" y="572929"/>
                </a:moveTo>
                <a:cubicBezTo>
                  <a:pt x="2530602" y="990695"/>
                  <a:pt x="1777841" y="716566"/>
                  <a:pt x="1289399" y="508254"/>
                </a:cubicBezTo>
                <a:cubicBezTo>
                  <a:pt x="800957" y="299847"/>
                  <a:pt x="757809" y="579977"/>
                  <a:pt x="240602" y="572834"/>
                </a:cubicBezTo>
                <a:cubicBezTo>
                  <a:pt x="138684" y="571405"/>
                  <a:pt x="60293" y="547211"/>
                  <a:pt x="0" y="508825"/>
                </a:cubicBezTo>
                <a:lnTo>
                  <a:pt x="0" y="29813"/>
                </a:lnTo>
                <a:cubicBezTo>
                  <a:pt x="0" y="13335"/>
                  <a:pt x="13335" y="0"/>
                  <a:pt x="29813" y="0"/>
                </a:cubicBezTo>
                <a:lnTo>
                  <a:pt x="3195733" y="0"/>
                </a:lnTo>
                <a:cubicBezTo>
                  <a:pt x="3214878" y="132969"/>
                  <a:pt x="3174873" y="327565"/>
                  <a:pt x="2936462" y="572929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40B7218-497A-2D1A-EE56-84AD90C2C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Tahap</a:t>
            </a:r>
            <a:r>
              <a:rPr lang="en-US" dirty="0"/>
              <a:t> </a:t>
            </a:r>
            <a:r>
              <a:rPr lang="en-US" dirty="0" err="1"/>
              <a:t>Pengerjaan</a:t>
            </a:r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F1C806B-4A63-D80F-273D-17C25A0552AA}"/>
              </a:ext>
            </a:extLst>
          </p:cNvPr>
          <p:cNvGrpSpPr/>
          <p:nvPr/>
        </p:nvGrpSpPr>
        <p:grpSpPr>
          <a:xfrm>
            <a:off x="0" y="4772025"/>
            <a:ext cx="4410075" cy="2192026"/>
            <a:chOff x="0" y="7268971"/>
            <a:chExt cx="6210300" cy="3343155"/>
          </a:xfrm>
          <a:solidFill>
            <a:srgbClr val="1B6B6B"/>
          </a:solidFill>
        </p:grpSpPr>
        <p:sp>
          <p:nvSpPr>
            <p:cNvPr id="10" name="object 2">
              <a:extLst>
                <a:ext uri="{FF2B5EF4-FFF2-40B4-BE49-F238E27FC236}">
                  <a16:creationId xmlns:a16="http://schemas.microsoft.com/office/drawing/2014/main" id="{A05668C4-90E5-452B-C7B9-8F199F366C85}"/>
                </a:ext>
              </a:extLst>
            </p:cNvPr>
            <p:cNvSpPr/>
            <p:nvPr/>
          </p:nvSpPr>
          <p:spPr>
            <a:xfrm>
              <a:off x="1771094" y="7633334"/>
              <a:ext cx="4439206" cy="2939416"/>
            </a:xfrm>
            <a:custGeom>
              <a:avLst/>
              <a:gdLst/>
              <a:ahLst/>
              <a:cxnLst/>
              <a:rect l="l" t="t" r="r" b="b"/>
              <a:pathLst>
                <a:path w="5307330" h="2653665">
                  <a:moveTo>
                    <a:pt x="2653585" y="0"/>
                  </a:moveTo>
                  <a:lnTo>
                    <a:pt x="0" y="2653665"/>
                  </a:lnTo>
                  <a:lnTo>
                    <a:pt x="5307270" y="2653665"/>
                  </a:lnTo>
                  <a:lnTo>
                    <a:pt x="2653585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4">
              <a:extLst>
                <a:ext uri="{FF2B5EF4-FFF2-40B4-BE49-F238E27FC236}">
                  <a16:creationId xmlns:a16="http://schemas.microsoft.com/office/drawing/2014/main" id="{BAB36544-214E-2D98-9ECF-7EAB537B9E76}"/>
                </a:ext>
              </a:extLst>
            </p:cNvPr>
            <p:cNvSpPr/>
            <p:nvPr/>
          </p:nvSpPr>
          <p:spPr>
            <a:xfrm>
              <a:off x="1" y="7268971"/>
              <a:ext cx="4138054" cy="3343155"/>
            </a:xfrm>
            <a:custGeom>
              <a:avLst/>
              <a:gdLst/>
              <a:ahLst/>
              <a:cxnLst/>
              <a:rect l="l" t="t" r="r" b="b"/>
              <a:pathLst>
                <a:path w="4947285" h="3018154">
                  <a:moveTo>
                    <a:pt x="1929257" y="0"/>
                  </a:moveTo>
                  <a:lnTo>
                    <a:pt x="0" y="1929192"/>
                  </a:lnTo>
                  <a:lnTo>
                    <a:pt x="0" y="3018026"/>
                  </a:lnTo>
                  <a:lnTo>
                    <a:pt x="4947273" y="3018026"/>
                  </a:lnTo>
                  <a:lnTo>
                    <a:pt x="1929257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6">
              <a:extLst>
                <a:ext uri="{FF2B5EF4-FFF2-40B4-BE49-F238E27FC236}">
                  <a16:creationId xmlns:a16="http://schemas.microsoft.com/office/drawing/2014/main" id="{039F2318-D225-59FA-DEF6-09B291D2E33D}"/>
                </a:ext>
              </a:extLst>
            </p:cNvPr>
            <p:cNvSpPr/>
            <p:nvPr/>
          </p:nvSpPr>
          <p:spPr>
            <a:xfrm>
              <a:off x="2671827" y="8512429"/>
              <a:ext cx="2969031" cy="1965941"/>
            </a:xfrm>
            <a:custGeom>
              <a:avLst/>
              <a:gdLst/>
              <a:ahLst/>
              <a:cxnLst/>
              <a:rect l="l" t="t" r="r" b="b"/>
              <a:pathLst>
                <a:path w="3549650" h="1774825">
                  <a:moveTo>
                    <a:pt x="1774569" y="0"/>
                  </a:moveTo>
                  <a:lnTo>
                    <a:pt x="0" y="1774569"/>
                  </a:lnTo>
                  <a:lnTo>
                    <a:pt x="3549205" y="1774569"/>
                  </a:lnTo>
                  <a:lnTo>
                    <a:pt x="1774569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8">
              <a:extLst>
                <a:ext uri="{FF2B5EF4-FFF2-40B4-BE49-F238E27FC236}">
                  <a16:creationId xmlns:a16="http://schemas.microsoft.com/office/drawing/2014/main" id="{BF284AD1-92F3-B5F0-3CBD-D804B81B5A8A}"/>
                </a:ext>
              </a:extLst>
            </p:cNvPr>
            <p:cNvSpPr/>
            <p:nvPr/>
          </p:nvSpPr>
          <p:spPr>
            <a:xfrm>
              <a:off x="3240508" y="9081096"/>
              <a:ext cx="2017773" cy="1336418"/>
            </a:xfrm>
            <a:custGeom>
              <a:avLst/>
              <a:gdLst/>
              <a:ahLst/>
              <a:cxnLst/>
              <a:rect l="l" t="t" r="r" b="b"/>
              <a:pathLst>
                <a:path w="2412365" h="1206500">
                  <a:moveTo>
                    <a:pt x="0" y="1205901"/>
                  </a:moveTo>
                  <a:lnTo>
                    <a:pt x="1205888" y="0"/>
                  </a:lnTo>
                  <a:lnTo>
                    <a:pt x="2411821" y="1205901"/>
                  </a:lnTo>
                </a:path>
              </a:pathLst>
            </a:custGeom>
            <a:grpFill/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0">
              <a:extLst>
                <a:ext uri="{FF2B5EF4-FFF2-40B4-BE49-F238E27FC236}">
                  <a16:creationId xmlns:a16="http://schemas.microsoft.com/office/drawing/2014/main" id="{8A11020A-3E53-C351-6D67-ACD2FDCFA15C}"/>
                </a:ext>
              </a:extLst>
            </p:cNvPr>
            <p:cNvSpPr/>
            <p:nvPr/>
          </p:nvSpPr>
          <p:spPr>
            <a:xfrm>
              <a:off x="0" y="7917560"/>
              <a:ext cx="3595767" cy="2625006"/>
            </a:xfrm>
            <a:custGeom>
              <a:avLst/>
              <a:gdLst/>
              <a:ahLst/>
              <a:cxnLst/>
              <a:rect l="l" t="t" r="r" b="b"/>
              <a:pathLst>
                <a:path w="4298950" h="2369820">
                  <a:moveTo>
                    <a:pt x="0" y="1929192"/>
                  </a:moveTo>
                  <a:lnTo>
                    <a:pt x="1929257" y="0"/>
                  </a:lnTo>
                  <a:lnTo>
                    <a:pt x="4298687" y="2369438"/>
                  </a:lnTo>
                </a:path>
              </a:pathLst>
            </a:custGeom>
            <a:grpFill/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" name="Oval 2">
            <a:extLst>
              <a:ext uri="{FF2B5EF4-FFF2-40B4-BE49-F238E27FC236}">
                <a16:creationId xmlns:a16="http://schemas.microsoft.com/office/drawing/2014/main" id="{DB2FED24-4E8D-94C3-9E35-DA34BFD771C3}"/>
              </a:ext>
            </a:extLst>
          </p:cNvPr>
          <p:cNvSpPr/>
          <p:nvPr/>
        </p:nvSpPr>
        <p:spPr>
          <a:xfrm flipH="1">
            <a:off x="688800" y="1520393"/>
            <a:ext cx="810704" cy="765768"/>
          </a:xfrm>
          <a:prstGeom prst="ellipse">
            <a:avLst/>
          </a:prstGeom>
          <a:solidFill>
            <a:srgbClr val="030C14"/>
          </a:solidFill>
          <a:ln w="57150">
            <a:solidFill>
              <a:srgbClr val="313D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D0F1634-5762-29AC-E996-C54875DFF30A}"/>
              </a:ext>
            </a:extLst>
          </p:cNvPr>
          <p:cNvSpPr/>
          <p:nvPr/>
        </p:nvSpPr>
        <p:spPr>
          <a:xfrm>
            <a:off x="1619250" y="1520393"/>
            <a:ext cx="6229350" cy="840298"/>
          </a:xfrm>
          <a:prstGeom prst="rect">
            <a:avLst/>
          </a:prstGeom>
          <a:solidFill>
            <a:srgbClr val="1B6B6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Data Understanding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Memahami</a:t>
            </a:r>
            <a:r>
              <a:rPr lang="en-US" dirty="0"/>
              <a:t> </a:t>
            </a:r>
            <a:r>
              <a:rPr lang="en-US" dirty="0" err="1"/>
              <a:t>konteks</a:t>
            </a:r>
            <a:r>
              <a:rPr lang="en-US" dirty="0"/>
              <a:t> </a:t>
            </a:r>
            <a:r>
              <a:rPr lang="en-US" dirty="0" err="1"/>
              <a:t>bisnis</a:t>
            </a:r>
            <a:r>
              <a:rPr lang="en-US" dirty="0"/>
              <a:t> dan </a:t>
            </a:r>
            <a:r>
              <a:rPr lang="en-US" dirty="0" err="1"/>
              <a:t>definisi</a:t>
            </a:r>
            <a:r>
              <a:rPr lang="en-US" dirty="0"/>
              <a:t> TARGET (imbalanced ~8%).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Analisis</a:t>
            </a:r>
            <a:r>
              <a:rPr lang="en-US" dirty="0"/>
              <a:t> </a:t>
            </a:r>
            <a:r>
              <a:rPr lang="en-US" dirty="0" err="1"/>
              <a:t>distribusi</a:t>
            </a:r>
            <a:r>
              <a:rPr lang="en-US" dirty="0"/>
              <a:t> target, </a:t>
            </a:r>
            <a:r>
              <a:rPr lang="en-US" dirty="0" err="1"/>
              <a:t>tipe</a:t>
            </a:r>
            <a:r>
              <a:rPr lang="en-US" dirty="0"/>
              <a:t> data, dan missing values.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27FE541D-9E05-38B7-C42F-7229BDBAD9F3}"/>
              </a:ext>
            </a:extLst>
          </p:cNvPr>
          <p:cNvSpPr/>
          <p:nvPr/>
        </p:nvSpPr>
        <p:spPr>
          <a:xfrm flipH="1">
            <a:off x="688800" y="2525065"/>
            <a:ext cx="810704" cy="765768"/>
          </a:xfrm>
          <a:prstGeom prst="ellipse">
            <a:avLst/>
          </a:prstGeom>
          <a:solidFill>
            <a:srgbClr val="030C14"/>
          </a:solidFill>
          <a:ln w="57150">
            <a:solidFill>
              <a:srgbClr val="313D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6083E45-C877-644F-0308-C150FC5BE3AB}"/>
              </a:ext>
            </a:extLst>
          </p:cNvPr>
          <p:cNvSpPr/>
          <p:nvPr/>
        </p:nvSpPr>
        <p:spPr>
          <a:xfrm>
            <a:off x="1619249" y="2525065"/>
            <a:ext cx="6905625" cy="840298"/>
          </a:xfrm>
          <a:prstGeom prst="rect">
            <a:avLst/>
          </a:prstGeom>
          <a:solidFill>
            <a:srgbClr val="1B6B6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Feature Engineering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Agregasi</a:t>
            </a:r>
            <a:r>
              <a:rPr lang="en-US" dirty="0"/>
              <a:t> data </a:t>
            </a:r>
            <a:r>
              <a:rPr lang="en-US" dirty="0" err="1"/>
              <a:t>riwayat</a:t>
            </a:r>
            <a:r>
              <a:rPr lang="en-US" dirty="0"/>
              <a:t> </a:t>
            </a:r>
            <a:r>
              <a:rPr lang="en-US" dirty="0" err="1"/>
              <a:t>kredit</a:t>
            </a:r>
            <a:r>
              <a:rPr lang="en-US" dirty="0"/>
              <a:t> (bureau, previous, installments, POS, credit card).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Menghasilkan</a:t>
            </a:r>
            <a:r>
              <a:rPr lang="en-US" dirty="0"/>
              <a:t> ±45 </a:t>
            </a:r>
            <a:r>
              <a:rPr lang="en-US" dirty="0" err="1"/>
              <a:t>fitur</a:t>
            </a:r>
            <a:r>
              <a:rPr lang="en-US" dirty="0"/>
              <a:t> customer-level (1 baris per SK_ID_CURR).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F4085CE-CAA9-46CD-5BD6-98D00F859854}"/>
              </a:ext>
            </a:extLst>
          </p:cNvPr>
          <p:cNvSpPr/>
          <p:nvPr/>
        </p:nvSpPr>
        <p:spPr>
          <a:xfrm flipH="1">
            <a:off x="688800" y="3663087"/>
            <a:ext cx="810704" cy="765768"/>
          </a:xfrm>
          <a:prstGeom prst="ellipse">
            <a:avLst/>
          </a:prstGeom>
          <a:solidFill>
            <a:srgbClr val="030C14"/>
          </a:solidFill>
          <a:ln w="57150">
            <a:solidFill>
              <a:srgbClr val="313D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3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96EDD33-0D19-24E9-2451-8EB6C7D07C76}"/>
              </a:ext>
            </a:extLst>
          </p:cNvPr>
          <p:cNvSpPr/>
          <p:nvPr/>
        </p:nvSpPr>
        <p:spPr>
          <a:xfrm>
            <a:off x="1619250" y="3575621"/>
            <a:ext cx="6905624" cy="927764"/>
          </a:xfrm>
          <a:prstGeom prst="rect">
            <a:avLst/>
          </a:prstGeom>
          <a:solidFill>
            <a:srgbClr val="1B6B6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Preprocessing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 dirty="0"/>
              <a:t>Imputasi median &amp; hapus fitur dengan missing tinggi.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Feature transformation (</a:t>
            </a:r>
            <a:r>
              <a:rPr lang="en-US" dirty="0" err="1"/>
              <a:t>ext_median</a:t>
            </a:r>
            <a:r>
              <a:rPr lang="en-US" dirty="0"/>
              <a:t>, age, log transform).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One-Hot Encoding &amp; scaling (</a:t>
            </a:r>
            <a:r>
              <a:rPr lang="en-US" dirty="0" err="1"/>
              <a:t>khusus</a:t>
            </a:r>
            <a:r>
              <a:rPr lang="en-US" dirty="0"/>
              <a:t> Logistic Regression).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69904196-6283-D8AD-49F2-0D4A7C45830E}"/>
              </a:ext>
            </a:extLst>
          </p:cNvPr>
          <p:cNvSpPr/>
          <p:nvPr/>
        </p:nvSpPr>
        <p:spPr>
          <a:xfrm flipH="1">
            <a:off x="3479625" y="4580293"/>
            <a:ext cx="810704" cy="765768"/>
          </a:xfrm>
          <a:prstGeom prst="ellipse">
            <a:avLst/>
          </a:prstGeom>
          <a:solidFill>
            <a:srgbClr val="030C14"/>
          </a:solidFill>
          <a:ln w="57150">
            <a:solidFill>
              <a:srgbClr val="313D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4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6FD2866-141B-885B-E3E1-35F56036E32B}"/>
              </a:ext>
            </a:extLst>
          </p:cNvPr>
          <p:cNvSpPr/>
          <p:nvPr/>
        </p:nvSpPr>
        <p:spPr>
          <a:xfrm>
            <a:off x="4410075" y="4580293"/>
            <a:ext cx="6781800" cy="840298"/>
          </a:xfrm>
          <a:prstGeom prst="rect">
            <a:avLst/>
          </a:prstGeom>
          <a:solidFill>
            <a:srgbClr val="1B6B6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Modeling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Baseline: Logistic Regression &amp; </a:t>
            </a:r>
            <a:r>
              <a:rPr lang="en-US" dirty="0" err="1"/>
              <a:t>XGBoost</a:t>
            </a:r>
            <a:r>
              <a:rPr lang="en-US" dirty="0"/>
              <a:t> (data </a:t>
            </a:r>
            <a:r>
              <a:rPr lang="en-US" dirty="0" err="1"/>
              <a:t>aplikasi</a:t>
            </a:r>
            <a:r>
              <a:rPr lang="en-US" dirty="0"/>
              <a:t> </a:t>
            </a:r>
            <a:r>
              <a:rPr lang="en-US" dirty="0" err="1"/>
              <a:t>saja</a:t>
            </a:r>
            <a:r>
              <a:rPr lang="en-US" dirty="0"/>
              <a:t>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Dengan</a:t>
            </a:r>
            <a:r>
              <a:rPr lang="en-US" dirty="0"/>
              <a:t> External Data: Logistic Regression &amp; </a:t>
            </a:r>
            <a:r>
              <a:rPr lang="en-US" dirty="0" err="1"/>
              <a:t>XGBoost</a:t>
            </a:r>
            <a:r>
              <a:rPr lang="en-US" dirty="0"/>
              <a:t> + tuning (</a:t>
            </a:r>
            <a:r>
              <a:rPr lang="en-US" dirty="0" err="1"/>
              <a:t>Optuna</a:t>
            </a:r>
            <a:r>
              <a:rPr lang="en-US" dirty="0"/>
              <a:t>).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75F5BBF-6421-B6AF-9CDA-82F54526BAB2}"/>
              </a:ext>
            </a:extLst>
          </p:cNvPr>
          <p:cNvSpPr/>
          <p:nvPr/>
        </p:nvSpPr>
        <p:spPr>
          <a:xfrm flipH="1">
            <a:off x="4119256" y="5709180"/>
            <a:ext cx="810704" cy="765768"/>
          </a:xfrm>
          <a:prstGeom prst="ellipse">
            <a:avLst/>
          </a:prstGeom>
          <a:solidFill>
            <a:srgbClr val="030C14"/>
          </a:solidFill>
          <a:ln w="57150">
            <a:solidFill>
              <a:srgbClr val="313D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5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FF4197E-63D2-8616-7CA1-9E9986B1B7C6}"/>
              </a:ext>
            </a:extLst>
          </p:cNvPr>
          <p:cNvSpPr/>
          <p:nvPr/>
        </p:nvSpPr>
        <p:spPr>
          <a:xfrm>
            <a:off x="5049706" y="5587331"/>
            <a:ext cx="6589844" cy="1146844"/>
          </a:xfrm>
          <a:prstGeom prst="rect">
            <a:avLst/>
          </a:prstGeom>
          <a:solidFill>
            <a:srgbClr val="1B6B6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Evaluation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Metric </a:t>
            </a:r>
            <a:r>
              <a:rPr lang="en-US" dirty="0" err="1"/>
              <a:t>utama</a:t>
            </a:r>
            <a:r>
              <a:rPr lang="en-US" dirty="0"/>
              <a:t>: </a:t>
            </a:r>
            <a:r>
              <a:rPr lang="en-US" b="1" dirty="0"/>
              <a:t>AUPRC</a:t>
            </a:r>
            <a:r>
              <a:rPr lang="en-US" dirty="0"/>
              <a:t> (imbalanced data).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ROC-AUC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generalisasi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Model </a:t>
            </a:r>
            <a:r>
              <a:rPr lang="en-US" dirty="0" err="1"/>
              <a:t>terbaik</a:t>
            </a:r>
            <a:r>
              <a:rPr lang="en-US" dirty="0"/>
              <a:t>: </a:t>
            </a:r>
            <a:r>
              <a:rPr lang="en-US" b="1" dirty="0" err="1"/>
              <a:t>XGBoost</a:t>
            </a:r>
            <a:r>
              <a:rPr lang="en-US" b="1" dirty="0"/>
              <a:t> + External Data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0726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6" grpId="0" animBg="1"/>
      <p:bldP spid="18" grpId="0" animBg="1"/>
      <p:bldP spid="20" grpId="0" animBg="1"/>
      <p:bldP spid="2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D8CCB8-D922-FAE5-D725-09508AFFE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519ABD6-3E80-3E7E-99B7-395A91BC942A}"/>
              </a:ext>
            </a:extLst>
          </p:cNvPr>
          <p:cNvSpPr/>
          <p:nvPr/>
        </p:nvSpPr>
        <p:spPr>
          <a:xfrm flipV="1">
            <a:off x="3720974" y="0"/>
            <a:ext cx="8471026" cy="3663200"/>
          </a:xfrm>
          <a:custGeom>
            <a:avLst/>
            <a:gdLst>
              <a:gd name="connsiteX0" fmla="*/ 4265200 w 4265199"/>
              <a:gd name="connsiteY0" fmla="*/ 0 h 3261360"/>
              <a:gd name="connsiteX1" fmla="*/ 4265200 w 4265199"/>
              <a:gd name="connsiteY1" fmla="*/ 3234023 h 3261360"/>
              <a:gd name="connsiteX2" fmla="*/ 4237959 w 4265199"/>
              <a:gd name="connsiteY2" fmla="*/ 3261360 h 3261360"/>
              <a:gd name="connsiteX3" fmla="*/ 0 w 4265199"/>
              <a:gd name="connsiteY3" fmla="*/ 3261360 h 3261360"/>
              <a:gd name="connsiteX4" fmla="*/ 1142048 w 4265199"/>
              <a:gd name="connsiteY4" fmla="*/ 2708720 h 3261360"/>
              <a:gd name="connsiteX5" fmla="*/ 2770823 w 4265199"/>
              <a:gd name="connsiteY5" fmla="*/ 1021652 h 3261360"/>
              <a:gd name="connsiteX6" fmla="*/ 4265200 w 4265199"/>
              <a:gd name="connsiteY6" fmla="*/ 0 h 3261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65199" h="3261360">
                <a:moveTo>
                  <a:pt x="4265200" y="0"/>
                </a:moveTo>
                <a:lnTo>
                  <a:pt x="4265200" y="3234023"/>
                </a:lnTo>
                <a:cubicBezTo>
                  <a:pt x="4265200" y="3249073"/>
                  <a:pt x="4253008" y="3261360"/>
                  <a:pt x="4237959" y="3261360"/>
                </a:cubicBezTo>
                <a:lnTo>
                  <a:pt x="0" y="3261360"/>
                </a:lnTo>
                <a:cubicBezTo>
                  <a:pt x="126492" y="3007805"/>
                  <a:pt x="427387" y="2888742"/>
                  <a:pt x="1142048" y="2708720"/>
                </a:cubicBezTo>
                <a:cubicBezTo>
                  <a:pt x="2065496" y="2476024"/>
                  <a:pt x="2261807" y="2025206"/>
                  <a:pt x="2770823" y="1021652"/>
                </a:cubicBezTo>
                <a:cubicBezTo>
                  <a:pt x="3210211" y="155448"/>
                  <a:pt x="4044791" y="20669"/>
                  <a:pt x="4265200" y="0"/>
                </a:cubicBezTo>
                <a:close/>
              </a:path>
            </a:pathLst>
          </a:custGeom>
          <a:solidFill>
            <a:srgbClr val="1B6B6B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A8D79FA-8079-EC46-CB31-CE9D03C765C1}"/>
              </a:ext>
            </a:extLst>
          </p:cNvPr>
          <p:cNvSpPr/>
          <p:nvPr/>
        </p:nvSpPr>
        <p:spPr>
          <a:xfrm>
            <a:off x="0" y="0"/>
            <a:ext cx="6775325" cy="1674891"/>
          </a:xfrm>
          <a:custGeom>
            <a:avLst/>
            <a:gdLst>
              <a:gd name="connsiteX0" fmla="*/ 2936462 w 3199913"/>
              <a:gd name="connsiteY0" fmla="*/ 572929 h 791033"/>
              <a:gd name="connsiteX1" fmla="*/ 1289399 w 3199913"/>
              <a:gd name="connsiteY1" fmla="*/ 508254 h 791033"/>
              <a:gd name="connsiteX2" fmla="*/ 240602 w 3199913"/>
              <a:gd name="connsiteY2" fmla="*/ 572834 h 791033"/>
              <a:gd name="connsiteX3" fmla="*/ 0 w 3199913"/>
              <a:gd name="connsiteY3" fmla="*/ 508825 h 791033"/>
              <a:gd name="connsiteX4" fmla="*/ 0 w 3199913"/>
              <a:gd name="connsiteY4" fmla="*/ 29813 h 791033"/>
              <a:gd name="connsiteX5" fmla="*/ 29813 w 3199913"/>
              <a:gd name="connsiteY5" fmla="*/ 0 h 791033"/>
              <a:gd name="connsiteX6" fmla="*/ 3195733 w 3199913"/>
              <a:gd name="connsiteY6" fmla="*/ 0 h 791033"/>
              <a:gd name="connsiteX7" fmla="*/ 2936462 w 3199913"/>
              <a:gd name="connsiteY7" fmla="*/ 572929 h 7910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99913" h="791033">
                <a:moveTo>
                  <a:pt x="2936462" y="572929"/>
                </a:moveTo>
                <a:cubicBezTo>
                  <a:pt x="2530602" y="990695"/>
                  <a:pt x="1777841" y="716566"/>
                  <a:pt x="1289399" y="508254"/>
                </a:cubicBezTo>
                <a:cubicBezTo>
                  <a:pt x="800957" y="299847"/>
                  <a:pt x="757809" y="579977"/>
                  <a:pt x="240602" y="572834"/>
                </a:cubicBezTo>
                <a:cubicBezTo>
                  <a:pt x="138684" y="571405"/>
                  <a:pt x="60293" y="547211"/>
                  <a:pt x="0" y="508825"/>
                </a:cubicBezTo>
                <a:lnTo>
                  <a:pt x="0" y="29813"/>
                </a:lnTo>
                <a:cubicBezTo>
                  <a:pt x="0" y="13335"/>
                  <a:pt x="13335" y="0"/>
                  <a:pt x="29813" y="0"/>
                </a:cubicBezTo>
                <a:lnTo>
                  <a:pt x="3195733" y="0"/>
                </a:lnTo>
                <a:cubicBezTo>
                  <a:pt x="3214878" y="132969"/>
                  <a:pt x="3174873" y="327565"/>
                  <a:pt x="2936462" y="572929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FE3D5E0-8F00-56B4-2126-980A1C272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Visualization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07BA23-1EDC-8350-A080-31C1087C80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98449" y="1927292"/>
            <a:ext cx="10350675" cy="3320000"/>
          </a:xfrm>
        </p:spPr>
        <p:txBody>
          <a:bodyPr/>
          <a:lstStyle/>
          <a:p>
            <a:r>
              <a:rPr lang="en-US" b="1" dirty="0" err="1"/>
              <a:t>Temuan</a:t>
            </a:r>
            <a:r>
              <a:rPr lang="en-US" b="1" dirty="0"/>
              <a:t> Utama </a:t>
            </a:r>
            <a:r>
              <a:rPr lang="en-US" b="1" dirty="0" err="1"/>
              <a:t>dari</a:t>
            </a:r>
            <a:r>
              <a:rPr lang="en-US" b="1" dirty="0"/>
              <a:t> EDA</a:t>
            </a:r>
          </a:p>
          <a:p>
            <a:r>
              <a:rPr lang="en-US" b="1" dirty="0"/>
              <a:t>Class Imbalance</a:t>
            </a:r>
            <a:br>
              <a:rPr lang="en-US" dirty="0"/>
            </a:br>
            <a:r>
              <a:rPr lang="en-US" dirty="0"/>
              <a:t>TARGET=1 </a:t>
            </a:r>
            <a:r>
              <a:rPr lang="en-US" dirty="0" err="1"/>
              <a:t>hanya</a:t>
            </a:r>
            <a:r>
              <a:rPr lang="en-US" dirty="0"/>
              <a:t> ±8% → </a:t>
            </a:r>
            <a:r>
              <a:rPr lang="en-US" dirty="0" err="1"/>
              <a:t>perlu</a:t>
            </a:r>
            <a:r>
              <a:rPr lang="en-US" dirty="0"/>
              <a:t> </a:t>
            </a:r>
            <a:r>
              <a:rPr lang="en-US" dirty="0" err="1"/>
              <a:t>evaluasi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b="1" dirty="0"/>
              <a:t>AUPRC</a:t>
            </a:r>
            <a:r>
              <a:rPr lang="en-US" dirty="0"/>
              <a:t>.</a:t>
            </a:r>
          </a:p>
          <a:p>
            <a:r>
              <a:rPr lang="en-US" b="1" dirty="0" err="1"/>
              <a:t>Distribusi</a:t>
            </a:r>
            <a:r>
              <a:rPr lang="en-US" b="1" dirty="0"/>
              <a:t> </a:t>
            </a:r>
            <a:r>
              <a:rPr lang="en-US" b="1" dirty="0" err="1"/>
              <a:t>Usia</a:t>
            </a:r>
            <a:br>
              <a:rPr lang="en-US" dirty="0"/>
            </a:br>
            <a:r>
              <a:rPr lang="en-US" dirty="0" err="1"/>
              <a:t>Nasabah</a:t>
            </a:r>
            <a:r>
              <a:rPr lang="en-US" dirty="0"/>
              <a:t> </a:t>
            </a:r>
            <a:r>
              <a:rPr lang="en-US" dirty="0" err="1"/>
              <a:t>usia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muda</a:t>
            </a:r>
            <a:r>
              <a:rPr lang="en-US" dirty="0"/>
              <a:t> </a:t>
            </a:r>
            <a:r>
              <a:rPr lang="en-US" dirty="0" err="1"/>
              <a:t>cenderung</a:t>
            </a:r>
            <a:r>
              <a:rPr lang="en-US" dirty="0"/>
              <a:t> </a:t>
            </a:r>
            <a:r>
              <a:rPr lang="en-US" dirty="0" err="1"/>
              <a:t>memiliki</a:t>
            </a:r>
            <a:r>
              <a:rPr lang="en-US" dirty="0"/>
              <a:t> </a:t>
            </a:r>
            <a:r>
              <a:rPr lang="en-US" dirty="0" err="1"/>
              <a:t>proporsi</a:t>
            </a:r>
            <a:r>
              <a:rPr lang="en-US" dirty="0"/>
              <a:t> default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tinggi</a:t>
            </a:r>
            <a:r>
              <a:rPr lang="en-US" dirty="0"/>
              <a:t>.</a:t>
            </a:r>
          </a:p>
          <a:p>
            <a:r>
              <a:rPr lang="en-US" b="1" dirty="0" err="1"/>
              <a:t>Distribusi</a:t>
            </a:r>
            <a:r>
              <a:rPr lang="en-US" b="1" dirty="0"/>
              <a:t> Income</a:t>
            </a:r>
            <a:br>
              <a:rPr lang="en-US" dirty="0"/>
            </a:br>
            <a:r>
              <a:rPr lang="en-US" dirty="0" err="1"/>
              <a:t>Kelompok</a:t>
            </a:r>
            <a:r>
              <a:rPr lang="en-US" dirty="0"/>
              <a:t> TARGET=1 </a:t>
            </a:r>
            <a:r>
              <a:rPr lang="en-US" dirty="0" err="1"/>
              <a:t>memiliki</a:t>
            </a:r>
            <a:r>
              <a:rPr lang="en-US" dirty="0"/>
              <a:t> median income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rendah</a:t>
            </a:r>
            <a:r>
              <a:rPr lang="en-US" dirty="0"/>
              <a:t> </a:t>
            </a:r>
            <a:r>
              <a:rPr lang="en-US" dirty="0" err="1"/>
              <a:t>dibanding</a:t>
            </a:r>
            <a:r>
              <a:rPr lang="en-US" dirty="0"/>
              <a:t> TARGET=0.</a:t>
            </a:r>
          </a:p>
          <a:p>
            <a:r>
              <a:rPr lang="en-US" b="1" dirty="0"/>
              <a:t>EXT_SOURCE (</a:t>
            </a:r>
            <a:r>
              <a:rPr lang="en-US" b="1" dirty="0" err="1"/>
              <a:t>ext_median</a:t>
            </a:r>
            <a:r>
              <a:rPr lang="en-US" b="1" dirty="0"/>
              <a:t>)</a:t>
            </a:r>
            <a:br>
              <a:rPr lang="en-US" dirty="0"/>
            </a:br>
            <a:r>
              <a:rPr lang="en-US" dirty="0"/>
              <a:t>Skor </a:t>
            </a:r>
            <a:r>
              <a:rPr lang="en-US" dirty="0" err="1"/>
              <a:t>eksternal</a:t>
            </a:r>
            <a:r>
              <a:rPr lang="en-US" dirty="0"/>
              <a:t> </a:t>
            </a:r>
            <a:r>
              <a:rPr lang="en-US" dirty="0" err="1"/>
              <a:t>rendah</a:t>
            </a:r>
            <a:r>
              <a:rPr lang="en-US" dirty="0"/>
              <a:t> sangat </a:t>
            </a:r>
            <a:r>
              <a:rPr lang="en-US" dirty="0" err="1"/>
              <a:t>berkorelasi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risiko</a:t>
            </a:r>
            <a:r>
              <a:rPr lang="en-US" dirty="0"/>
              <a:t> </a:t>
            </a:r>
            <a:r>
              <a:rPr lang="en-US" dirty="0" err="1"/>
              <a:t>gagal</a:t>
            </a:r>
            <a:r>
              <a:rPr lang="en-US" dirty="0"/>
              <a:t> </a:t>
            </a:r>
            <a:r>
              <a:rPr lang="en-US" dirty="0" err="1"/>
              <a:t>bayar</a:t>
            </a:r>
            <a:r>
              <a:rPr lang="en-US" dirty="0"/>
              <a:t>.</a:t>
            </a:r>
          </a:p>
          <a:p>
            <a:r>
              <a:rPr lang="en-US" b="1" dirty="0"/>
              <a:t>Behavioral Features (DPD &amp; </a:t>
            </a:r>
            <a:r>
              <a:rPr lang="en-US" b="1" dirty="0" err="1"/>
              <a:t>Keterlambatan</a:t>
            </a:r>
            <a:r>
              <a:rPr lang="en-US" b="1" dirty="0"/>
              <a:t>)</a:t>
            </a:r>
            <a:br>
              <a:rPr lang="en-US" dirty="0"/>
            </a:br>
            <a:r>
              <a:rPr lang="en-US" dirty="0"/>
              <a:t>Riwayat </a:t>
            </a:r>
            <a:r>
              <a:rPr lang="en-US" dirty="0" err="1"/>
              <a:t>keterlambatan</a:t>
            </a:r>
            <a:r>
              <a:rPr lang="en-US" dirty="0"/>
              <a:t> </a:t>
            </a:r>
            <a:r>
              <a:rPr lang="en-US" dirty="0" err="1"/>
              <a:t>pembayaran</a:t>
            </a:r>
            <a:r>
              <a:rPr lang="en-US" dirty="0"/>
              <a:t> </a:t>
            </a:r>
            <a:r>
              <a:rPr lang="en-US" dirty="0" err="1"/>
              <a:t>menjadi</a:t>
            </a:r>
            <a:r>
              <a:rPr lang="en-US" dirty="0"/>
              <a:t> </a:t>
            </a:r>
            <a:r>
              <a:rPr lang="en-US" dirty="0" err="1"/>
              <a:t>indikator</a:t>
            </a:r>
            <a:r>
              <a:rPr lang="en-US" dirty="0"/>
              <a:t> </a:t>
            </a:r>
            <a:r>
              <a:rPr lang="en-US" dirty="0" err="1"/>
              <a:t>risiko</a:t>
            </a:r>
            <a:r>
              <a:rPr lang="en-US" dirty="0"/>
              <a:t> paling </a:t>
            </a:r>
            <a:r>
              <a:rPr lang="en-US" dirty="0" err="1"/>
              <a:t>kuat</a:t>
            </a:r>
            <a:r>
              <a:rPr lang="en-US" dirty="0"/>
              <a:t>.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BEEB84C-A1D3-50E1-731D-7E8B7179E4B1}"/>
              </a:ext>
            </a:extLst>
          </p:cNvPr>
          <p:cNvGrpSpPr/>
          <p:nvPr/>
        </p:nvGrpSpPr>
        <p:grpSpPr>
          <a:xfrm>
            <a:off x="0" y="4772025"/>
            <a:ext cx="4410075" cy="2192026"/>
            <a:chOff x="0" y="7268971"/>
            <a:chExt cx="6210300" cy="3343155"/>
          </a:xfrm>
          <a:solidFill>
            <a:srgbClr val="1B6B6B"/>
          </a:solidFill>
        </p:grpSpPr>
        <p:sp>
          <p:nvSpPr>
            <p:cNvPr id="10" name="object 2">
              <a:extLst>
                <a:ext uri="{FF2B5EF4-FFF2-40B4-BE49-F238E27FC236}">
                  <a16:creationId xmlns:a16="http://schemas.microsoft.com/office/drawing/2014/main" id="{79D943B1-3A84-D931-9AAF-BDEEF4460972}"/>
                </a:ext>
              </a:extLst>
            </p:cNvPr>
            <p:cNvSpPr/>
            <p:nvPr/>
          </p:nvSpPr>
          <p:spPr>
            <a:xfrm>
              <a:off x="1771094" y="7633334"/>
              <a:ext cx="4439206" cy="2939416"/>
            </a:xfrm>
            <a:custGeom>
              <a:avLst/>
              <a:gdLst/>
              <a:ahLst/>
              <a:cxnLst/>
              <a:rect l="l" t="t" r="r" b="b"/>
              <a:pathLst>
                <a:path w="5307330" h="2653665">
                  <a:moveTo>
                    <a:pt x="2653585" y="0"/>
                  </a:moveTo>
                  <a:lnTo>
                    <a:pt x="0" y="2653665"/>
                  </a:lnTo>
                  <a:lnTo>
                    <a:pt x="5307270" y="2653665"/>
                  </a:lnTo>
                  <a:lnTo>
                    <a:pt x="2653585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4">
              <a:extLst>
                <a:ext uri="{FF2B5EF4-FFF2-40B4-BE49-F238E27FC236}">
                  <a16:creationId xmlns:a16="http://schemas.microsoft.com/office/drawing/2014/main" id="{71630B5C-2FB9-2566-9AFD-C0B58C1A4F3D}"/>
                </a:ext>
              </a:extLst>
            </p:cNvPr>
            <p:cNvSpPr/>
            <p:nvPr/>
          </p:nvSpPr>
          <p:spPr>
            <a:xfrm>
              <a:off x="1" y="7268971"/>
              <a:ext cx="4138054" cy="3343155"/>
            </a:xfrm>
            <a:custGeom>
              <a:avLst/>
              <a:gdLst/>
              <a:ahLst/>
              <a:cxnLst/>
              <a:rect l="l" t="t" r="r" b="b"/>
              <a:pathLst>
                <a:path w="4947285" h="3018154">
                  <a:moveTo>
                    <a:pt x="1929257" y="0"/>
                  </a:moveTo>
                  <a:lnTo>
                    <a:pt x="0" y="1929192"/>
                  </a:lnTo>
                  <a:lnTo>
                    <a:pt x="0" y="3018026"/>
                  </a:lnTo>
                  <a:lnTo>
                    <a:pt x="4947273" y="3018026"/>
                  </a:lnTo>
                  <a:lnTo>
                    <a:pt x="1929257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6">
              <a:extLst>
                <a:ext uri="{FF2B5EF4-FFF2-40B4-BE49-F238E27FC236}">
                  <a16:creationId xmlns:a16="http://schemas.microsoft.com/office/drawing/2014/main" id="{254CEE34-E00B-8D10-8DAB-0D64CC66AD16}"/>
                </a:ext>
              </a:extLst>
            </p:cNvPr>
            <p:cNvSpPr/>
            <p:nvPr/>
          </p:nvSpPr>
          <p:spPr>
            <a:xfrm>
              <a:off x="2671827" y="8512429"/>
              <a:ext cx="2969031" cy="1965941"/>
            </a:xfrm>
            <a:custGeom>
              <a:avLst/>
              <a:gdLst/>
              <a:ahLst/>
              <a:cxnLst/>
              <a:rect l="l" t="t" r="r" b="b"/>
              <a:pathLst>
                <a:path w="3549650" h="1774825">
                  <a:moveTo>
                    <a:pt x="1774569" y="0"/>
                  </a:moveTo>
                  <a:lnTo>
                    <a:pt x="0" y="1774569"/>
                  </a:lnTo>
                  <a:lnTo>
                    <a:pt x="3549205" y="1774569"/>
                  </a:lnTo>
                  <a:lnTo>
                    <a:pt x="1774569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8">
              <a:extLst>
                <a:ext uri="{FF2B5EF4-FFF2-40B4-BE49-F238E27FC236}">
                  <a16:creationId xmlns:a16="http://schemas.microsoft.com/office/drawing/2014/main" id="{45507456-761A-53EA-B998-0257025BEDC5}"/>
                </a:ext>
              </a:extLst>
            </p:cNvPr>
            <p:cNvSpPr/>
            <p:nvPr/>
          </p:nvSpPr>
          <p:spPr>
            <a:xfrm>
              <a:off x="3240508" y="9081096"/>
              <a:ext cx="2017773" cy="1336418"/>
            </a:xfrm>
            <a:custGeom>
              <a:avLst/>
              <a:gdLst/>
              <a:ahLst/>
              <a:cxnLst/>
              <a:rect l="l" t="t" r="r" b="b"/>
              <a:pathLst>
                <a:path w="2412365" h="1206500">
                  <a:moveTo>
                    <a:pt x="0" y="1205901"/>
                  </a:moveTo>
                  <a:lnTo>
                    <a:pt x="1205888" y="0"/>
                  </a:lnTo>
                  <a:lnTo>
                    <a:pt x="2411821" y="1205901"/>
                  </a:lnTo>
                </a:path>
              </a:pathLst>
            </a:custGeom>
            <a:grpFill/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0">
              <a:extLst>
                <a:ext uri="{FF2B5EF4-FFF2-40B4-BE49-F238E27FC236}">
                  <a16:creationId xmlns:a16="http://schemas.microsoft.com/office/drawing/2014/main" id="{E394B6D0-5262-5EBE-8A91-6A947B79933E}"/>
                </a:ext>
              </a:extLst>
            </p:cNvPr>
            <p:cNvSpPr/>
            <p:nvPr/>
          </p:nvSpPr>
          <p:spPr>
            <a:xfrm>
              <a:off x="0" y="7917560"/>
              <a:ext cx="3595767" cy="2625006"/>
            </a:xfrm>
            <a:custGeom>
              <a:avLst/>
              <a:gdLst/>
              <a:ahLst/>
              <a:cxnLst/>
              <a:rect l="l" t="t" r="r" b="b"/>
              <a:pathLst>
                <a:path w="4298950" h="2369820">
                  <a:moveTo>
                    <a:pt x="0" y="1929192"/>
                  </a:moveTo>
                  <a:lnTo>
                    <a:pt x="1929257" y="0"/>
                  </a:lnTo>
                  <a:lnTo>
                    <a:pt x="4298687" y="2369438"/>
                  </a:lnTo>
                </a:path>
              </a:pathLst>
            </a:custGeom>
            <a:grpFill/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4406031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BCAA54-AAB8-BBDD-9EE7-3823EA9D2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5C9BE-86C2-A95F-78CE-7E073815F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800" y="436100"/>
            <a:ext cx="9875438" cy="957200"/>
          </a:xfrm>
        </p:spPr>
        <p:txBody>
          <a:bodyPr/>
          <a:lstStyle/>
          <a:p>
            <a:r>
              <a:rPr lang="en-US" dirty="0"/>
              <a:t>Machine Learning Implementation &amp; Evaluation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85C7A2B8-BA4D-044F-AB0A-585123B5BB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0162472"/>
              </p:ext>
            </p:extLst>
          </p:nvPr>
        </p:nvGraphicFramePr>
        <p:xfrm>
          <a:off x="375744" y="2389493"/>
          <a:ext cx="5276025" cy="3408709"/>
        </p:xfrm>
        <a:graphic>
          <a:graphicData uri="http://schemas.openxmlformats.org/drawingml/2006/table">
            <a:tbl>
              <a:tblPr firstRow="1" bandRow="1">
                <a:tableStyleId>{EB9631B5-78F2-41C9-869B-9F39066F8104}</a:tableStyleId>
              </a:tblPr>
              <a:tblGrid>
                <a:gridCol w="1758675">
                  <a:extLst>
                    <a:ext uri="{9D8B030D-6E8A-4147-A177-3AD203B41FA5}">
                      <a16:colId xmlns:a16="http://schemas.microsoft.com/office/drawing/2014/main" val="1964691702"/>
                    </a:ext>
                  </a:extLst>
                </a:gridCol>
                <a:gridCol w="1758675">
                  <a:extLst>
                    <a:ext uri="{9D8B030D-6E8A-4147-A177-3AD203B41FA5}">
                      <a16:colId xmlns:a16="http://schemas.microsoft.com/office/drawing/2014/main" val="1612409192"/>
                    </a:ext>
                  </a:extLst>
                </a:gridCol>
                <a:gridCol w="1758675">
                  <a:extLst>
                    <a:ext uri="{9D8B030D-6E8A-4147-A177-3AD203B41FA5}">
                      <a16:colId xmlns:a16="http://schemas.microsoft.com/office/drawing/2014/main" val="1446776011"/>
                    </a:ext>
                  </a:extLst>
                </a:gridCol>
              </a:tblGrid>
              <a:tr h="7859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Data yang </a:t>
                      </a:r>
                      <a:r>
                        <a:rPr lang="en-US" sz="1600" dirty="0" err="1"/>
                        <a:t>Digunakan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Hasil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6901240"/>
                  </a:ext>
                </a:extLst>
              </a:tr>
              <a:tr h="471598">
                <a:tc>
                  <a:txBody>
                    <a:bodyPr/>
                    <a:lstStyle/>
                    <a:p>
                      <a:r>
                        <a:rPr lang="en-US" sz="1600" dirty="0"/>
                        <a:t>Logistic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Application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0.637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15189"/>
                  </a:ext>
                </a:extLst>
              </a:tr>
              <a:tr h="785997">
                <a:tc>
                  <a:txBody>
                    <a:bodyPr/>
                    <a:lstStyle/>
                    <a:p>
                      <a:r>
                        <a:rPr lang="en-US" sz="1600" dirty="0"/>
                        <a:t>Logistic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Application + External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0.650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3502802"/>
                  </a:ext>
                </a:extLst>
              </a:tr>
              <a:tr h="471598">
                <a:tc>
                  <a:txBody>
                    <a:bodyPr/>
                    <a:lstStyle/>
                    <a:p>
                      <a:r>
                        <a:rPr lang="en-US" sz="1600" dirty="0" err="1"/>
                        <a:t>XGBoost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dirty="0"/>
                        <a:t>Application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0.759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3783364"/>
                  </a:ext>
                </a:extLst>
              </a:tr>
              <a:tr h="78599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dirty="0" err="1"/>
                        <a:t>XGBoost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dirty="0"/>
                        <a:t>Application + External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0.767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239179"/>
                  </a:ext>
                </a:extLst>
              </a:tr>
            </a:tbl>
          </a:graphicData>
        </a:graphic>
      </p:graphicFrame>
      <p:pic>
        <p:nvPicPr>
          <p:cNvPr id="5122" name="Picture 2">
            <a:extLst>
              <a:ext uri="{FF2B5EF4-FFF2-40B4-BE49-F238E27FC236}">
                <a16:creationId xmlns:a16="http://schemas.microsoft.com/office/drawing/2014/main" id="{53848CFB-B790-26D6-1119-1597E6C2A6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2688" y="1392700"/>
            <a:ext cx="6391275" cy="502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96059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C9E52E-A343-9FCE-7937-2057556DF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11A3399-2242-0541-1140-D1715C139273}"/>
              </a:ext>
            </a:extLst>
          </p:cNvPr>
          <p:cNvSpPr/>
          <p:nvPr/>
        </p:nvSpPr>
        <p:spPr>
          <a:xfrm flipV="1">
            <a:off x="3720974" y="0"/>
            <a:ext cx="8471026" cy="3663200"/>
          </a:xfrm>
          <a:custGeom>
            <a:avLst/>
            <a:gdLst>
              <a:gd name="connsiteX0" fmla="*/ 4265200 w 4265199"/>
              <a:gd name="connsiteY0" fmla="*/ 0 h 3261360"/>
              <a:gd name="connsiteX1" fmla="*/ 4265200 w 4265199"/>
              <a:gd name="connsiteY1" fmla="*/ 3234023 h 3261360"/>
              <a:gd name="connsiteX2" fmla="*/ 4237959 w 4265199"/>
              <a:gd name="connsiteY2" fmla="*/ 3261360 h 3261360"/>
              <a:gd name="connsiteX3" fmla="*/ 0 w 4265199"/>
              <a:gd name="connsiteY3" fmla="*/ 3261360 h 3261360"/>
              <a:gd name="connsiteX4" fmla="*/ 1142048 w 4265199"/>
              <a:gd name="connsiteY4" fmla="*/ 2708720 h 3261360"/>
              <a:gd name="connsiteX5" fmla="*/ 2770823 w 4265199"/>
              <a:gd name="connsiteY5" fmla="*/ 1021652 h 3261360"/>
              <a:gd name="connsiteX6" fmla="*/ 4265200 w 4265199"/>
              <a:gd name="connsiteY6" fmla="*/ 0 h 3261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65199" h="3261360">
                <a:moveTo>
                  <a:pt x="4265200" y="0"/>
                </a:moveTo>
                <a:lnTo>
                  <a:pt x="4265200" y="3234023"/>
                </a:lnTo>
                <a:cubicBezTo>
                  <a:pt x="4265200" y="3249073"/>
                  <a:pt x="4253008" y="3261360"/>
                  <a:pt x="4237959" y="3261360"/>
                </a:cubicBezTo>
                <a:lnTo>
                  <a:pt x="0" y="3261360"/>
                </a:lnTo>
                <a:cubicBezTo>
                  <a:pt x="126492" y="3007805"/>
                  <a:pt x="427387" y="2888742"/>
                  <a:pt x="1142048" y="2708720"/>
                </a:cubicBezTo>
                <a:cubicBezTo>
                  <a:pt x="2065496" y="2476024"/>
                  <a:pt x="2261807" y="2025206"/>
                  <a:pt x="2770823" y="1021652"/>
                </a:cubicBezTo>
                <a:cubicBezTo>
                  <a:pt x="3210211" y="155448"/>
                  <a:pt x="4044791" y="20669"/>
                  <a:pt x="4265200" y="0"/>
                </a:cubicBezTo>
                <a:close/>
              </a:path>
            </a:pathLst>
          </a:custGeom>
          <a:solidFill>
            <a:srgbClr val="1B6B6B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D51359C-D769-6F23-FE85-85AB2F100512}"/>
              </a:ext>
            </a:extLst>
          </p:cNvPr>
          <p:cNvSpPr/>
          <p:nvPr/>
        </p:nvSpPr>
        <p:spPr>
          <a:xfrm>
            <a:off x="0" y="0"/>
            <a:ext cx="6775325" cy="1674891"/>
          </a:xfrm>
          <a:custGeom>
            <a:avLst/>
            <a:gdLst>
              <a:gd name="connsiteX0" fmla="*/ 2936462 w 3199913"/>
              <a:gd name="connsiteY0" fmla="*/ 572929 h 791033"/>
              <a:gd name="connsiteX1" fmla="*/ 1289399 w 3199913"/>
              <a:gd name="connsiteY1" fmla="*/ 508254 h 791033"/>
              <a:gd name="connsiteX2" fmla="*/ 240602 w 3199913"/>
              <a:gd name="connsiteY2" fmla="*/ 572834 h 791033"/>
              <a:gd name="connsiteX3" fmla="*/ 0 w 3199913"/>
              <a:gd name="connsiteY3" fmla="*/ 508825 h 791033"/>
              <a:gd name="connsiteX4" fmla="*/ 0 w 3199913"/>
              <a:gd name="connsiteY4" fmla="*/ 29813 h 791033"/>
              <a:gd name="connsiteX5" fmla="*/ 29813 w 3199913"/>
              <a:gd name="connsiteY5" fmla="*/ 0 h 791033"/>
              <a:gd name="connsiteX6" fmla="*/ 3195733 w 3199913"/>
              <a:gd name="connsiteY6" fmla="*/ 0 h 791033"/>
              <a:gd name="connsiteX7" fmla="*/ 2936462 w 3199913"/>
              <a:gd name="connsiteY7" fmla="*/ 572929 h 7910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99913" h="791033">
                <a:moveTo>
                  <a:pt x="2936462" y="572929"/>
                </a:moveTo>
                <a:cubicBezTo>
                  <a:pt x="2530602" y="990695"/>
                  <a:pt x="1777841" y="716566"/>
                  <a:pt x="1289399" y="508254"/>
                </a:cubicBezTo>
                <a:cubicBezTo>
                  <a:pt x="800957" y="299847"/>
                  <a:pt x="757809" y="579977"/>
                  <a:pt x="240602" y="572834"/>
                </a:cubicBezTo>
                <a:cubicBezTo>
                  <a:pt x="138684" y="571405"/>
                  <a:pt x="60293" y="547211"/>
                  <a:pt x="0" y="508825"/>
                </a:cubicBezTo>
                <a:lnTo>
                  <a:pt x="0" y="29813"/>
                </a:lnTo>
                <a:cubicBezTo>
                  <a:pt x="0" y="13335"/>
                  <a:pt x="13335" y="0"/>
                  <a:pt x="29813" y="0"/>
                </a:cubicBezTo>
                <a:lnTo>
                  <a:pt x="3195733" y="0"/>
                </a:lnTo>
                <a:cubicBezTo>
                  <a:pt x="3214878" y="132969"/>
                  <a:pt x="3174873" y="327565"/>
                  <a:pt x="2936462" y="572929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AE019D4-4030-8F77-6B96-0172FBAEA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Insight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3D750AFA-0D3F-7E7F-CFDA-71A1678784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8700" y="685800"/>
            <a:ext cx="1543050" cy="1584198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88D4F002-95DF-AFDC-FA09-932A6327CE85}"/>
              </a:ext>
            </a:extLst>
          </p:cNvPr>
          <p:cNvSpPr/>
          <p:nvPr/>
        </p:nvSpPr>
        <p:spPr>
          <a:xfrm>
            <a:off x="2795784" y="2129839"/>
            <a:ext cx="6050209" cy="44599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2000" dirty="0"/>
              <a:t>Hasil </a:t>
            </a:r>
            <a:r>
              <a:rPr lang="en-US" sz="2000" dirty="0" err="1"/>
              <a:t>evaluasi</a:t>
            </a:r>
            <a:r>
              <a:rPr lang="en-US" sz="2000" dirty="0"/>
              <a:t> </a:t>
            </a:r>
            <a:r>
              <a:rPr lang="en-US" sz="2000" dirty="0" err="1"/>
              <a:t>menunjukkan</a:t>
            </a:r>
            <a:r>
              <a:rPr lang="en-US" sz="2000" dirty="0"/>
              <a:t> </a:t>
            </a:r>
            <a:r>
              <a:rPr lang="en-US" sz="2000" dirty="0" err="1"/>
              <a:t>bahwa</a:t>
            </a:r>
            <a:r>
              <a:rPr lang="en-US" sz="2000" dirty="0"/>
              <a:t> </a:t>
            </a:r>
            <a:r>
              <a:rPr lang="en-US" sz="2000" dirty="0" err="1"/>
              <a:t>penambahan</a:t>
            </a:r>
            <a:r>
              <a:rPr lang="en-US" sz="2000" dirty="0"/>
              <a:t> external credit history </a:t>
            </a:r>
            <a:r>
              <a:rPr lang="en-US" sz="2000" dirty="0" err="1"/>
              <a:t>secara</a:t>
            </a:r>
            <a:r>
              <a:rPr lang="en-US" sz="2000" dirty="0"/>
              <a:t> </a:t>
            </a:r>
            <a:r>
              <a:rPr lang="en-US" sz="2000" dirty="0" err="1"/>
              <a:t>konsisten</a:t>
            </a:r>
            <a:r>
              <a:rPr lang="en-US" sz="2000" dirty="0"/>
              <a:t> </a:t>
            </a:r>
            <a:r>
              <a:rPr lang="en-US" sz="2000" dirty="0" err="1"/>
              <a:t>meningkatkan</a:t>
            </a:r>
            <a:r>
              <a:rPr lang="en-US" sz="2000" dirty="0"/>
              <a:t> </a:t>
            </a:r>
            <a:r>
              <a:rPr lang="en-US" sz="2000" dirty="0" err="1"/>
              <a:t>performa</a:t>
            </a:r>
            <a:r>
              <a:rPr lang="en-US" sz="2000" dirty="0"/>
              <a:t> model, </a:t>
            </a:r>
            <a:r>
              <a:rPr lang="en-US" sz="2000" dirty="0" err="1"/>
              <a:t>baik</a:t>
            </a:r>
            <a:r>
              <a:rPr lang="en-US" sz="2000" dirty="0"/>
              <a:t> pada Logistic Regression </a:t>
            </a:r>
            <a:r>
              <a:rPr lang="en-US" sz="2000" dirty="0" err="1"/>
              <a:t>maupun</a:t>
            </a:r>
            <a:r>
              <a:rPr lang="en-US" sz="2000" dirty="0"/>
              <a:t> </a:t>
            </a:r>
            <a:r>
              <a:rPr lang="en-US" sz="2000" dirty="0" err="1"/>
              <a:t>XGBoost</a:t>
            </a:r>
            <a:r>
              <a:rPr lang="en-US" sz="2000" dirty="0"/>
              <a:t>. Model </a:t>
            </a:r>
            <a:r>
              <a:rPr lang="en-US" sz="2000" dirty="0" err="1"/>
              <a:t>XGBoost</a:t>
            </a:r>
            <a:r>
              <a:rPr lang="en-US" sz="2000" dirty="0"/>
              <a:t> </a:t>
            </a:r>
            <a:r>
              <a:rPr lang="en-US" sz="2000" dirty="0" err="1"/>
              <a:t>dengan</a:t>
            </a:r>
            <a:r>
              <a:rPr lang="en-US" sz="2000" dirty="0"/>
              <a:t> data </a:t>
            </a:r>
            <a:r>
              <a:rPr lang="en-US" sz="2000" dirty="0" err="1"/>
              <a:t>gabungan</a:t>
            </a:r>
            <a:r>
              <a:rPr lang="en-US" sz="2000" dirty="0"/>
              <a:t> (application + external) </a:t>
            </a:r>
            <a:r>
              <a:rPr lang="en-US" sz="2000" dirty="0" err="1"/>
              <a:t>memberikan</a:t>
            </a:r>
            <a:r>
              <a:rPr lang="en-US" sz="2000" dirty="0"/>
              <a:t> </a:t>
            </a:r>
            <a:r>
              <a:rPr lang="en-US" sz="2000" dirty="0" err="1"/>
              <a:t>performa</a:t>
            </a:r>
            <a:r>
              <a:rPr lang="en-US" sz="2000" dirty="0"/>
              <a:t> </a:t>
            </a:r>
            <a:r>
              <a:rPr lang="en-US" sz="2000" dirty="0" err="1"/>
              <a:t>terbaik</a:t>
            </a:r>
            <a:r>
              <a:rPr lang="en-US" sz="2000" dirty="0"/>
              <a:t> (AUC 0.767), </a:t>
            </a:r>
            <a:r>
              <a:rPr lang="en-US" sz="2000" dirty="0" err="1"/>
              <a:t>menunjukkan</a:t>
            </a:r>
            <a:r>
              <a:rPr lang="en-US" sz="2000" dirty="0"/>
              <a:t> </a:t>
            </a:r>
            <a:r>
              <a:rPr lang="en-US" sz="2000" dirty="0" err="1"/>
              <a:t>kemampuan</a:t>
            </a:r>
            <a:r>
              <a:rPr lang="en-US" sz="2000" dirty="0"/>
              <a:t> yang </a:t>
            </a:r>
            <a:r>
              <a:rPr lang="en-US" sz="2000" dirty="0" err="1"/>
              <a:t>lebih</a:t>
            </a:r>
            <a:r>
              <a:rPr lang="en-US" sz="2000" dirty="0"/>
              <a:t> </a:t>
            </a:r>
            <a:r>
              <a:rPr lang="en-US" sz="2000" dirty="0" err="1"/>
              <a:t>baik</a:t>
            </a:r>
            <a:r>
              <a:rPr lang="en-US" sz="2000" dirty="0"/>
              <a:t> </a:t>
            </a:r>
            <a:r>
              <a:rPr lang="en-US" sz="2000" dirty="0" err="1"/>
              <a:t>dalam</a:t>
            </a:r>
            <a:r>
              <a:rPr lang="en-US" sz="2000" dirty="0"/>
              <a:t> </a:t>
            </a:r>
            <a:r>
              <a:rPr lang="en-US" sz="2000" dirty="0" err="1"/>
              <a:t>membedakan</a:t>
            </a:r>
            <a:r>
              <a:rPr lang="en-US" sz="2000" dirty="0"/>
              <a:t> </a:t>
            </a:r>
            <a:r>
              <a:rPr lang="en-US" sz="2000" dirty="0" err="1"/>
              <a:t>nasabah</a:t>
            </a:r>
            <a:r>
              <a:rPr lang="en-US" sz="2000" dirty="0"/>
              <a:t> </a:t>
            </a:r>
            <a:r>
              <a:rPr lang="en-US" sz="2000" dirty="0" err="1"/>
              <a:t>berisiko</a:t>
            </a:r>
            <a:r>
              <a:rPr lang="en-US" sz="2000" dirty="0"/>
              <a:t> dan </a:t>
            </a:r>
            <a:r>
              <a:rPr lang="en-US" sz="2000" dirty="0" err="1"/>
              <a:t>tidak</a:t>
            </a:r>
            <a:r>
              <a:rPr lang="en-US" sz="2000" dirty="0"/>
              <a:t> </a:t>
            </a:r>
            <a:r>
              <a:rPr lang="en-US" sz="2000" dirty="0" err="1"/>
              <a:t>berisiko</a:t>
            </a:r>
            <a:r>
              <a:rPr lang="en-US" sz="2000" dirty="0"/>
              <a:t>. Hal </a:t>
            </a:r>
            <a:r>
              <a:rPr lang="en-US" sz="2000" dirty="0" err="1"/>
              <a:t>ini</a:t>
            </a:r>
            <a:r>
              <a:rPr lang="en-US" sz="2000" dirty="0"/>
              <a:t> </a:t>
            </a:r>
            <a:r>
              <a:rPr lang="en-US" sz="2000" dirty="0" err="1"/>
              <a:t>mengindikasikan</a:t>
            </a:r>
            <a:r>
              <a:rPr lang="en-US" sz="2000" dirty="0"/>
              <a:t> </a:t>
            </a:r>
            <a:r>
              <a:rPr lang="en-US" sz="2000" dirty="0" err="1"/>
              <a:t>bahwa</a:t>
            </a:r>
            <a:r>
              <a:rPr lang="en-US" sz="2000" dirty="0"/>
              <a:t> </a:t>
            </a:r>
            <a:r>
              <a:rPr lang="en-US" sz="2000" dirty="0" err="1"/>
              <a:t>integrasi</a:t>
            </a:r>
            <a:r>
              <a:rPr lang="en-US" sz="2000" dirty="0"/>
              <a:t> data </a:t>
            </a:r>
            <a:r>
              <a:rPr lang="en-US" sz="2000" dirty="0" err="1"/>
              <a:t>perilaku</a:t>
            </a:r>
            <a:r>
              <a:rPr lang="en-US" sz="2000" dirty="0"/>
              <a:t> </a:t>
            </a:r>
            <a:r>
              <a:rPr lang="en-US" sz="2000" dirty="0" err="1"/>
              <a:t>kredit</a:t>
            </a:r>
            <a:r>
              <a:rPr lang="en-US" sz="2000" dirty="0"/>
              <a:t> </a:t>
            </a:r>
            <a:r>
              <a:rPr lang="en-US" sz="2000" dirty="0" err="1"/>
              <a:t>historis</a:t>
            </a:r>
            <a:r>
              <a:rPr lang="en-US" sz="2000" dirty="0"/>
              <a:t> sangat </a:t>
            </a:r>
            <a:r>
              <a:rPr lang="en-US" sz="2000" dirty="0" err="1"/>
              <a:t>penting</a:t>
            </a:r>
            <a:r>
              <a:rPr lang="en-US" sz="2000" dirty="0"/>
              <a:t> </a:t>
            </a:r>
            <a:r>
              <a:rPr lang="en-US" sz="2000" dirty="0" err="1"/>
              <a:t>untuk</a:t>
            </a:r>
            <a:r>
              <a:rPr lang="en-US" sz="2000" dirty="0"/>
              <a:t> </a:t>
            </a:r>
            <a:r>
              <a:rPr lang="en-US" sz="2000" dirty="0" err="1"/>
              <a:t>meningkatkan</a:t>
            </a:r>
            <a:r>
              <a:rPr lang="en-US" sz="2000" dirty="0"/>
              <a:t> </a:t>
            </a:r>
            <a:r>
              <a:rPr lang="en-US" sz="2000" dirty="0" err="1"/>
              <a:t>kualitas</a:t>
            </a:r>
            <a:r>
              <a:rPr lang="en-US" sz="2000" dirty="0"/>
              <a:t> risk screening dan </a:t>
            </a:r>
            <a:r>
              <a:rPr lang="en-US" sz="2000" dirty="0" err="1"/>
              <a:t>mendukung</a:t>
            </a:r>
            <a:r>
              <a:rPr lang="en-US" sz="2000" dirty="0"/>
              <a:t> </a:t>
            </a:r>
            <a:r>
              <a:rPr lang="en-US" sz="2000" dirty="0" err="1"/>
              <a:t>pengambilan</a:t>
            </a:r>
            <a:r>
              <a:rPr lang="en-US" sz="2000" dirty="0"/>
              <a:t> </a:t>
            </a:r>
            <a:r>
              <a:rPr lang="en-US" sz="2000" dirty="0" err="1"/>
              <a:t>keputusan</a:t>
            </a:r>
            <a:r>
              <a:rPr lang="en-US" sz="2000" dirty="0"/>
              <a:t> </a:t>
            </a:r>
            <a:r>
              <a:rPr lang="en-US" sz="2000" dirty="0" err="1"/>
              <a:t>kredit</a:t>
            </a:r>
            <a:r>
              <a:rPr lang="en-US" sz="2000" dirty="0"/>
              <a:t> yang </a:t>
            </a:r>
            <a:r>
              <a:rPr lang="en-US" sz="2000" dirty="0" err="1"/>
              <a:t>lebih</a:t>
            </a:r>
            <a:r>
              <a:rPr lang="en-US" sz="2000" dirty="0"/>
              <a:t> </a:t>
            </a:r>
            <a:r>
              <a:rPr lang="en-US" sz="2000" dirty="0" err="1"/>
              <a:t>akurat</a:t>
            </a:r>
            <a:r>
              <a:rPr lang="en-US" sz="2000" dirty="0"/>
              <a:t>.</a:t>
            </a:r>
            <a:endParaRPr lang="en-U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69690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0422C-3973-0B6D-ACE6-4881F7944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0025" y="923925"/>
            <a:ext cx="6264450" cy="957200"/>
          </a:xfrm>
        </p:spPr>
        <p:txBody>
          <a:bodyPr/>
          <a:lstStyle/>
          <a:p>
            <a:r>
              <a:rPr lang="en-US" dirty="0"/>
              <a:t>Business </a:t>
            </a:r>
            <a:r>
              <a:rPr lang="en-US" dirty="0" err="1"/>
              <a:t>Recomendation</a:t>
            </a:r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3F514F9-E6F1-6FB8-7DD5-EE951BA2BFAB}"/>
              </a:ext>
            </a:extLst>
          </p:cNvPr>
          <p:cNvCxnSpPr>
            <a:cxnSpLocks/>
          </p:cNvCxnSpPr>
          <p:nvPr/>
        </p:nvCxnSpPr>
        <p:spPr>
          <a:xfrm flipH="1">
            <a:off x="2200275" y="1402525"/>
            <a:ext cx="3686175" cy="146450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DD5683B-5F63-1ADA-86D2-E449FADE0C2C}"/>
              </a:ext>
            </a:extLst>
          </p:cNvPr>
          <p:cNvCxnSpPr>
            <a:cxnSpLocks/>
          </p:cNvCxnSpPr>
          <p:nvPr/>
        </p:nvCxnSpPr>
        <p:spPr>
          <a:xfrm>
            <a:off x="5886450" y="1402525"/>
            <a:ext cx="3543300" cy="1531175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86F1BA32-3292-31B1-8743-5B223CEFAE51}"/>
              </a:ext>
            </a:extLst>
          </p:cNvPr>
          <p:cNvSpPr/>
          <p:nvPr/>
        </p:nvSpPr>
        <p:spPr>
          <a:xfrm flipH="1">
            <a:off x="1696682" y="2933700"/>
            <a:ext cx="810704" cy="765768"/>
          </a:xfrm>
          <a:prstGeom prst="ellipse">
            <a:avLst/>
          </a:prstGeom>
          <a:solidFill>
            <a:srgbClr val="030C14"/>
          </a:solidFill>
          <a:ln w="57150">
            <a:solidFill>
              <a:srgbClr val="313D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1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69248DB-4DAE-A858-EDCB-7274ED7F4707}"/>
              </a:ext>
            </a:extLst>
          </p:cNvPr>
          <p:cNvCxnSpPr>
            <a:cxnSpLocks/>
          </p:cNvCxnSpPr>
          <p:nvPr/>
        </p:nvCxnSpPr>
        <p:spPr>
          <a:xfrm flipH="1">
            <a:off x="5810250" y="1402525"/>
            <a:ext cx="76200" cy="146450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EDB72EBB-B1FF-15A1-0ED6-B6674DA23B9D}"/>
              </a:ext>
            </a:extLst>
          </p:cNvPr>
          <p:cNvSpPr/>
          <p:nvPr/>
        </p:nvSpPr>
        <p:spPr>
          <a:xfrm flipH="1">
            <a:off x="5404898" y="2933700"/>
            <a:ext cx="810704" cy="765768"/>
          </a:xfrm>
          <a:prstGeom prst="ellipse">
            <a:avLst/>
          </a:prstGeom>
          <a:solidFill>
            <a:srgbClr val="030C14"/>
          </a:solidFill>
          <a:ln w="57150">
            <a:solidFill>
              <a:srgbClr val="313D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8E72DF9-0EDF-C094-B4DA-2CBF7DCD6CAF}"/>
              </a:ext>
            </a:extLst>
          </p:cNvPr>
          <p:cNvSpPr/>
          <p:nvPr/>
        </p:nvSpPr>
        <p:spPr>
          <a:xfrm flipH="1">
            <a:off x="9024398" y="2933700"/>
            <a:ext cx="810704" cy="765768"/>
          </a:xfrm>
          <a:prstGeom prst="ellipse">
            <a:avLst/>
          </a:prstGeom>
          <a:solidFill>
            <a:srgbClr val="030C14"/>
          </a:solidFill>
          <a:ln w="57150">
            <a:solidFill>
              <a:srgbClr val="313D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536F756-3BE7-7640-0846-43080B216D7D}"/>
              </a:ext>
            </a:extLst>
          </p:cNvPr>
          <p:cNvSpPr txBox="1"/>
          <p:nvPr/>
        </p:nvSpPr>
        <p:spPr>
          <a:xfrm>
            <a:off x="1181371" y="3848100"/>
            <a:ext cx="184132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Implementasikan</a:t>
            </a:r>
            <a:r>
              <a:rPr lang="en-US" dirty="0"/>
              <a:t> </a:t>
            </a:r>
            <a:r>
              <a:rPr lang="en-US" b="1" dirty="0" err="1"/>
              <a:t>XGBoost</a:t>
            </a:r>
            <a:r>
              <a:rPr lang="en-US" b="1" dirty="0"/>
              <a:t> + External Data</a:t>
            </a:r>
            <a:r>
              <a:rPr lang="en-US" dirty="0"/>
              <a:t> </a:t>
            </a:r>
            <a:r>
              <a:rPr lang="en-US" dirty="0" err="1"/>
              <a:t>sebagai</a:t>
            </a:r>
            <a:r>
              <a:rPr lang="en-US" dirty="0"/>
              <a:t> decision support </a:t>
            </a:r>
            <a:r>
              <a:rPr lang="en-US" dirty="0" err="1"/>
              <a:t>dalam</a:t>
            </a:r>
            <a:r>
              <a:rPr lang="en-US" dirty="0"/>
              <a:t> approval </a:t>
            </a:r>
            <a:r>
              <a:rPr lang="en-US" dirty="0" err="1"/>
              <a:t>kredit</a:t>
            </a:r>
            <a:r>
              <a:rPr lang="en-US" dirty="0"/>
              <a:t>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A907177-4833-5577-FDBE-79FC0DEAC026}"/>
              </a:ext>
            </a:extLst>
          </p:cNvPr>
          <p:cNvSpPr txBox="1"/>
          <p:nvPr/>
        </p:nvSpPr>
        <p:spPr>
          <a:xfrm>
            <a:off x="5005388" y="3848099"/>
            <a:ext cx="160972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Gunakan</a:t>
            </a:r>
            <a:r>
              <a:rPr lang="en-US" dirty="0"/>
              <a:t> threshold </a:t>
            </a:r>
            <a:r>
              <a:rPr lang="en-US" dirty="0" err="1"/>
              <a:t>berbasis</a:t>
            </a:r>
            <a:r>
              <a:rPr lang="en-US" dirty="0"/>
              <a:t> risk appetite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segmentasi</a:t>
            </a:r>
            <a:r>
              <a:rPr lang="en-US" dirty="0"/>
              <a:t> </a:t>
            </a:r>
            <a:r>
              <a:rPr lang="en-US" dirty="0" err="1"/>
              <a:t>risiko</a:t>
            </a:r>
            <a:r>
              <a:rPr lang="en-US" dirty="0"/>
              <a:t>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1EC016F-90F5-E698-AFAA-F825F7F1F050}"/>
              </a:ext>
            </a:extLst>
          </p:cNvPr>
          <p:cNvSpPr txBox="1"/>
          <p:nvPr/>
        </p:nvSpPr>
        <p:spPr>
          <a:xfrm>
            <a:off x="8639175" y="3848099"/>
            <a:ext cx="191959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Lakukan</a:t>
            </a:r>
            <a:r>
              <a:rPr lang="en-US" dirty="0"/>
              <a:t> monitoring dan retraining model </a:t>
            </a:r>
            <a:r>
              <a:rPr lang="en-US" dirty="0" err="1"/>
              <a:t>secara</a:t>
            </a:r>
            <a:r>
              <a:rPr lang="en-US" dirty="0"/>
              <a:t> </a:t>
            </a:r>
            <a:r>
              <a:rPr lang="en-US" dirty="0" err="1"/>
              <a:t>berkala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menjaga</a:t>
            </a:r>
            <a:r>
              <a:rPr lang="en-US" dirty="0"/>
              <a:t> </a:t>
            </a:r>
            <a:r>
              <a:rPr lang="en-US" dirty="0" err="1"/>
              <a:t>performa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8388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6" grpId="0" animBg="1"/>
      <p:bldP spid="1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6B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FA1A6FB-77C4-7CF8-6357-D432C88DC05E}"/>
              </a:ext>
            </a:extLst>
          </p:cNvPr>
          <p:cNvSpPr txBox="1"/>
          <p:nvPr/>
        </p:nvSpPr>
        <p:spPr>
          <a:xfrm>
            <a:off x="1549047" y="1916951"/>
            <a:ext cx="8770056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500" b="1" dirty="0">
                <a:solidFill>
                  <a:schemeClr val="bg1"/>
                </a:solidFill>
                <a:latin typeface="Lato" panose="020F0502020204030203" pitchFamily="34" charset="0"/>
                <a:cs typeface="Archivo" pitchFamily="2" charset="0"/>
              </a:rPr>
              <a:t>T</a:t>
            </a:r>
            <a:r>
              <a:rPr lang="en-IN" sz="11500" b="1" dirty="0">
                <a:solidFill>
                  <a:schemeClr val="bg1"/>
                </a:solidFill>
                <a:latin typeface="Lato" panose="020F0502020204030203" pitchFamily="34" charset="0"/>
                <a:cs typeface="Archivo" pitchFamily="2" charset="0"/>
              </a:rPr>
              <a:t>hank You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DA9CB53-4735-8ACF-8DEA-5D55321D2A3E}"/>
              </a:ext>
            </a:extLst>
          </p:cNvPr>
          <p:cNvSpPr txBox="1"/>
          <p:nvPr/>
        </p:nvSpPr>
        <p:spPr>
          <a:xfrm>
            <a:off x="1104900" y="4391025"/>
            <a:ext cx="163698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Presentasi</a:t>
            </a:r>
            <a:r>
              <a:rPr lang="en-US" dirty="0">
                <a:solidFill>
                  <a:schemeClr val="bg1"/>
                </a:solidFill>
              </a:rPr>
              <a:t> Video: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Link </a:t>
            </a:r>
            <a:r>
              <a:rPr lang="en-US" dirty="0" err="1">
                <a:solidFill>
                  <a:schemeClr val="bg1"/>
                </a:solidFill>
              </a:rPr>
              <a:t>Github</a:t>
            </a:r>
            <a:r>
              <a:rPr lang="en-US" dirty="0">
                <a:solidFill>
                  <a:schemeClr val="bg1"/>
                </a:solidFill>
              </a:rPr>
              <a:t>         :</a:t>
            </a:r>
          </a:p>
        </p:txBody>
      </p:sp>
    </p:spTree>
    <p:extLst>
      <p:ext uri="{BB962C8B-B14F-4D97-AF65-F5344CB8AC3E}">
        <p14:creationId xmlns:p14="http://schemas.microsoft.com/office/powerpoint/2010/main" val="2456600246"/>
      </p:ext>
    </p:extLst>
  </p:cSld>
  <p:clrMapOvr>
    <a:masterClrMapping/>
  </p:clrMapOvr>
</p:sld>
</file>

<file path=ppt/theme/theme1.xml><?xml version="1.0" encoding="utf-8"?>
<a:theme xmlns:a="http://schemas.openxmlformats.org/drawingml/2006/main" name="RPL">
  <a:themeElements>
    <a:clrScheme name="Custom 347">
      <a:dk1>
        <a:srgbClr val="363739"/>
      </a:dk1>
      <a:lt1>
        <a:srgbClr val="FFFFFF"/>
      </a:lt1>
      <a:dk2>
        <a:srgbClr val="888888"/>
      </a:dk2>
      <a:lt2>
        <a:srgbClr val="F5F5EF"/>
      </a:lt2>
      <a:accent1>
        <a:srgbClr val="EFBC49"/>
      </a:accent1>
      <a:accent2>
        <a:srgbClr val="D8A530"/>
      </a:accent2>
      <a:accent3>
        <a:srgbClr val="AB8540"/>
      </a:accent3>
      <a:accent4>
        <a:srgbClr val="494F56"/>
      </a:accent4>
      <a:accent5>
        <a:srgbClr val="888888"/>
      </a:accent5>
      <a:accent6>
        <a:srgbClr val="B1B1B2"/>
      </a:accent6>
      <a:hlink>
        <a:srgbClr val="363739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PL" id="{B5F62EA7-B1BE-43C4-9F2A-81D32CFFB11E}" vid="{286CC0DE-4743-462C-80F8-46E051B3381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RPL</Template>
  <TotalTime>809</TotalTime>
  <Words>513</Words>
  <Application>Microsoft Office PowerPoint</Application>
  <PresentationFormat>Widescreen</PresentationFormat>
  <Paragraphs>96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9" baseType="lpstr">
      <vt:lpstr>Aptos</vt:lpstr>
      <vt:lpstr>Arial</vt:lpstr>
      <vt:lpstr>Barlow</vt:lpstr>
      <vt:lpstr>Barlow Medium</vt:lpstr>
      <vt:lpstr>Calibri</vt:lpstr>
      <vt:lpstr>Franklin Gothic Demi</vt:lpstr>
      <vt:lpstr>Georgia</vt:lpstr>
      <vt:lpstr>Lato</vt:lpstr>
      <vt:lpstr>Poppins</vt:lpstr>
      <vt:lpstr>RPL</vt:lpstr>
      <vt:lpstr>PowerPoint Presentation</vt:lpstr>
      <vt:lpstr>Problem Research</vt:lpstr>
      <vt:lpstr>Dataset Overview</vt:lpstr>
      <vt:lpstr>Tahap Pengerjaan</vt:lpstr>
      <vt:lpstr>Data Visualization</vt:lpstr>
      <vt:lpstr>Machine Learning Implementation &amp; Evaluation</vt:lpstr>
      <vt:lpstr>Business Insight</vt:lpstr>
      <vt:lpstr>Business Recomendation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cp:revision>3</cp:revision>
  <dcterms:created xsi:type="dcterms:W3CDTF">2025-01-21T03:35:07Z</dcterms:created>
  <dcterms:modified xsi:type="dcterms:W3CDTF">2026-02-28T14:19:15Z</dcterms:modified>
</cp:coreProperties>
</file>